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862cebc-d72e-7827-a5af-a656eb161416}">
          <p14:sldIdLst>
            <p14:sldId id="256"/>
            <p14:sldId id="257"/>
            <p14:sldId id="258"/>
            <p14:sldId id="259"/>
          </p14:sldIdLst>
        </p14:section>
        <p14:section name="Strategy" id="{44b233f5-710f-ca3b-b841-59a7fad46b2d}">
          <p14:sldIdLst>
            <p14:sldId id="260"/>
            <p14:sldId id="261"/>
            <p14:sldId id="262"/>
            <p14:sldId id="263"/>
          </p14:sldIdLst>
        </p14:section>
        <p14:section name="CREST Framework" id="{dac8ca65-df54-a7e1-658c-f93f55247c2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Business Case" id="{caafac0d-992c-7096-5cc0-2d3249db062e}">
          <p14:sldIdLst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lose" id="{81ab6b92-37a6-b60a-253b-4321487742b2}">
          <p14:sldIdLst>
            <p14:sldId id="281"/>
          </p14:sldIdLst>
        </p14:section>
        <p14:section name="Appendix" id="{a339dd05-f6b0-8441-f5b5-41e12715d362}">
          <p14:sldIdLst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Light-statement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title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Light-section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Teal-statement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statem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l statem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 divider">
    <p:bg>
      <p:bgPr>
        <a:solidFill>
          <a:srgbClr val="0A24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vory appendix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ampltech.com/case-studies/40000-marketing-optins-colgate" TargetMode="External"/><Relationship Id="rId2" Type="http://schemas.openxmlformats.org/officeDocument/2006/relationships/hyperlink" Target="https://sopost.com/blog/your-sampling-campaign-is-flying-is-it-working/" TargetMode="External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812800" y="7112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spc="6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CREST MICROBIOME</a:t>
            </a:r>
            <a:endParaRPr lang="en-US" sz="4000" dirty="0"/>
          </a:p>
        </p:txBody>
      </p:sp>
      <p:sp>
        <p:nvSpPr>
          <p:cNvPr id="3" name="text-2"/>
          <p:cNvSpPr txBox="1"/>
          <p:nvPr/>
        </p:nvSpPr>
        <p:spPr>
          <a:xfrm>
            <a:off x="812800" y="13970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Make brushing your first act of self-care</a:t>
            </a:r>
            <a:endParaRPr lang="en-US" sz="1500" dirty="0"/>
          </a:p>
        </p:txBody>
      </p:sp>
      <p:pic>
        <p:nvPicPr>
          <p:cNvPr id="4" name="image-3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2949" y="1809750"/>
            <a:ext cx="5166102" cy="40640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812800" y="55880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Canadian launch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Summer 2027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Case competition</a:t>
            </a:r>
            <a:endParaRPr lang="en-US" sz="1200" dirty="0"/>
          </a:p>
        </p:txBody>
      </p:sp>
      <p:sp>
        <p:nvSpPr>
          <p:cNvPr id="6" name="text-5"/>
          <p:cNvSpPr txBox="1"/>
          <p:nvPr/>
        </p:nvSpPr>
        <p:spPr>
          <a:xfrm>
            <a:off x="8712200" y="55880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Team [Name]</a:t>
            </a:r>
            <a:endParaRPr lang="en-US" sz="120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[Member 1] · [Member 2]</a:t>
            </a:r>
            <a:endParaRPr lang="en-US" sz="120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[Member 3] · [Member 4]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ffle-0"/>
          <p:cNvSpPr/>
          <p:nvPr/>
        </p:nvSpPr>
        <p:spPr>
          <a:xfrm>
            <a:off x="8128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" name="waffle-1"/>
          <p:cNvSpPr/>
          <p:nvPr/>
        </p:nvSpPr>
        <p:spPr>
          <a:xfrm>
            <a:off x="11715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" name="waffle-2"/>
          <p:cNvSpPr/>
          <p:nvPr/>
        </p:nvSpPr>
        <p:spPr>
          <a:xfrm>
            <a:off x="153035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" name="waffle-3"/>
          <p:cNvSpPr/>
          <p:nvPr/>
        </p:nvSpPr>
        <p:spPr>
          <a:xfrm>
            <a:off x="188912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" name="waffle-4"/>
          <p:cNvSpPr/>
          <p:nvPr/>
        </p:nvSpPr>
        <p:spPr>
          <a:xfrm>
            <a:off x="22479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" name="waffle-5"/>
          <p:cNvSpPr/>
          <p:nvPr/>
        </p:nvSpPr>
        <p:spPr>
          <a:xfrm>
            <a:off x="26066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" name="waffle-6"/>
          <p:cNvSpPr/>
          <p:nvPr/>
        </p:nvSpPr>
        <p:spPr>
          <a:xfrm>
            <a:off x="296545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" name="waffle-7"/>
          <p:cNvSpPr/>
          <p:nvPr/>
        </p:nvSpPr>
        <p:spPr>
          <a:xfrm>
            <a:off x="332422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0" name="waffle-8"/>
          <p:cNvSpPr/>
          <p:nvPr/>
        </p:nvSpPr>
        <p:spPr>
          <a:xfrm>
            <a:off x="36830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1" name="waffle-9"/>
          <p:cNvSpPr/>
          <p:nvPr/>
        </p:nvSpPr>
        <p:spPr>
          <a:xfrm>
            <a:off x="40417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2" name="waffle-10"/>
          <p:cNvSpPr/>
          <p:nvPr/>
        </p:nvSpPr>
        <p:spPr>
          <a:xfrm>
            <a:off x="8128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3" name="waffle-11"/>
          <p:cNvSpPr/>
          <p:nvPr/>
        </p:nvSpPr>
        <p:spPr>
          <a:xfrm>
            <a:off x="11715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4" name="waffle-12"/>
          <p:cNvSpPr/>
          <p:nvPr/>
        </p:nvSpPr>
        <p:spPr>
          <a:xfrm>
            <a:off x="153035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5" name="waffle-13"/>
          <p:cNvSpPr/>
          <p:nvPr/>
        </p:nvSpPr>
        <p:spPr>
          <a:xfrm>
            <a:off x="188912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6" name="waffle-14"/>
          <p:cNvSpPr/>
          <p:nvPr/>
        </p:nvSpPr>
        <p:spPr>
          <a:xfrm>
            <a:off x="22479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7" name="waffle-15"/>
          <p:cNvSpPr/>
          <p:nvPr/>
        </p:nvSpPr>
        <p:spPr>
          <a:xfrm>
            <a:off x="26066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8" name="waffle-16"/>
          <p:cNvSpPr/>
          <p:nvPr/>
        </p:nvSpPr>
        <p:spPr>
          <a:xfrm>
            <a:off x="296545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9" name="waffle-17"/>
          <p:cNvSpPr/>
          <p:nvPr/>
        </p:nvSpPr>
        <p:spPr>
          <a:xfrm>
            <a:off x="332422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0" name="waffle-18"/>
          <p:cNvSpPr/>
          <p:nvPr/>
        </p:nvSpPr>
        <p:spPr>
          <a:xfrm>
            <a:off x="36830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1" name="waffle-19"/>
          <p:cNvSpPr/>
          <p:nvPr/>
        </p:nvSpPr>
        <p:spPr>
          <a:xfrm>
            <a:off x="40417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2" name="waffle-20"/>
          <p:cNvSpPr/>
          <p:nvPr/>
        </p:nvSpPr>
        <p:spPr>
          <a:xfrm>
            <a:off x="8128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3" name="waffle-21"/>
          <p:cNvSpPr/>
          <p:nvPr/>
        </p:nvSpPr>
        <p:spPr>
          <a:xfrm>
            <a:off x="11715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4" name="waffle-22"/>
          <p:cNvSpPr/>
          <p:nvPr/>
        </p:nvSpPr>
        <p:spPr>
          <a:xfrm>
            <a:off x="153035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5" name="waffle-23"/>
          <p:cNvSpPr/>
          <p:nvPr/>
        </p:nvSpPr>
        <p:spPr>
          <a:xfrm>
            <a:off x="188912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6" name="waffle-24"/>
          <p:cNvSpPr/>
          <p:nvPr/>
        </p:nvSpPr>
        <p:spPr>
          <a:xfrm>
            <a:off x="22479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7" name="waffle-25"/>
          <p:cNvSpPr/>
          <p:nvPr/>
        </p:nvSpPr>
        <p:spPr>
          <a:xfrm>
            <a:off x="26066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8" name="waffle-26"/>
          <p:cNvSpPr/>
          <p:nvPr/>
        </p:nvSpPr>
        <p:spPr>
          <a:xfrm>
            <a:off x="296545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9" name="waffle-27"/>
          <p:cNvSpPr/>
          <p:nvPr/>
        </p:nvSpPr>
        <p:spPr>
          <a:xfrm>
            <a:off x="332422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0" name="waffle-28"/>
          <p:cNvSpPr/>
          <p:nvPr/>
        </p:nvSpPr>
        <p:spPr>
          <a:xfrm>
            <a:off x="36830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1" name="waffle-29"/>
          <p:cNvSpPr/>
          <p:nvPr/>
        </p:nvSpPr>
        <p:spPr>
          <a:xfrm>
            <a:off x="40417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2" name="waffle-30"/>
          <p:cNvSpPr/>
          <p:nvPr/>
        </p:nvSpPr>
        <p:spPr>
          <a:xfrm>
            <a:off x="8128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3" name="waffle-31"/>
          <p:cNvSpPr/>
          <p:nvPr/>
        </p:nvSpPr>
        <p:spPr>
          <a:xfrm>
            <a:off x="11715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4" name="waffle-32"/>
          <p:cNvSpPr/>
          <p:nvPr/>
        </p:nvSpPr>
        <p:spPr>
          <a:xfrm>
            <a:off x="153035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5" name="waffle-33"/>
          <p:cNvSpPr/>
          <p:nvPr/>
        </p:nvSpPr>
        <p:spPr>
          <a:xfrm>
            <a:off x="188912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6" name="waffle-34"/>
          <p:cNvSpPr/>
          <p:nvPr/>
        </p:nvSpPr>
        <p:spPr>
          <a:xfrm>
            <a:off x="22479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7" name="waffle-35"/>
          <p:cNvSpPr/>
          <p:nvPr/>
        </p:nvSpPr>
        <p:spPr>
          <a:xfrm>
            <a:off x="26066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8" name="waffle-36"/>
          <p:cNvSpPr/>
          <p:nvPr/>
        </p:nvSpPr>
        <p:spPr>
          <a:xfrm>
            <a:off x="296545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9" name="waffle-37"/>
          <p:cNvSpPr/>
          <p:nvPr/>
        </p:nvSpPr>
        <p:spPr>
          <a:xfrm>
            <a:off x="332422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0" name="waffle-38"/>
          <p:cNvSpPr/>
          <p:nvPr/>
        </p:nvSpPr>
        <p:spPr>
          <a:xfrm>
            <a:off x="36830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1" name="waffle-39"/>
          <p:cNvSpPr/>
          <p:nvPr/>
        </p:nvSpPr>
        <p:spPr>
          <a:xfrm>
            <a:off x="40417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2" name="waffle-40"/>
          <p:cNvSpPr/>
          <p:nvPr/>
        </p:nvSpPr>
        <p:spPr>
          <a:xfrm>
            <a:off x="8128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3" name="waffle-41"/>
          <p:cNvSpPr/>
          <p:nvPr/>
        </p:nvSpPr>
        <p:spPr>
          <a:xfrm>
            <a:off x="11715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4" name="waffle-42"/>
          <p:cNvSpPr/>
          <p:nvPr/>
        </p:nvSpPr>
        <p:spPr>
          <a:xfrm>
            <a:off x="153035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5" name="waffle-43"/>
          <p:cNvSpPr/>
          <p:nvPr/>
        </p:nvSpPr>
        <p:spPr>
          <a:xfrm>
            <a:off x="188912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6" name="waffle-44"/>
          <p:cNvSpPr/>
          <p:nvPr/>
        </p:nvSpPr>
        <p:spPr>
          <a:xfrm>
            <a:off x="22479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7" name="waffle-45"/>
          <p:cNvSpPr/>
          <p:nvPr/>
        </p:nvSpPr>
        <p:spPr>
          <a:xfrm>
            <a:off x="26066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8" name="waffle-46"/>
          <p:cNvSpPr/>
          <p:nvPr/>
        </p:nvSpPr>
        <p:spPr>
          <a:xfrm>
            <a:off x="296545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9" name="waffle-47"/>
          <p:cNvSpPr/>
          <p:nvPr/>
        </p:nvSpPr>
        <p:spPr>
          <a:xfrm>
            <a:off x="332422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0" name="waffle-48"/>
          <p:cNvSpPr/>
          <p:nvPr/>
        </p:nvSpPr>
        <p:spPr>
          <a:xfrm>
            <a:off x="36830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1" name="waffle-49"/>
          <p:cNvSpPr/>
          <p:nvPr/>
        </p:nvSpPr>
        <p:spPr>
          <a:xfrm>
            <a:off x="40417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2" name="waffle-50"/>
          <p:cNvSpPr/>
          <p:nvPr/>
        </p:nvSpPr>
        <p:spPr>
          <a:xfrm>
            <a:off x="8128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3" name="waffle-51"/>
          <p:cNvSpPr/>
          <p:nvPr/>
        </p:nvSpPr>
        <p:spPr>
          <a:xfrm>
            <a:off x="11715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4" name="waffle-52"/>
          <p:cNvSpPr/>
          <p:nvPr/>
        </p:nvSpPr>
        <p:spPr>
          <a:xfrm>
            <a:off x="153035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5" name="waffle-53"/>
          <p:cNvSpPr/>
          <p:nvPr/>
        </p:nvSpPr>
        <p:spPr>
          <a:xfrm>
            <a:off x="188912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6" name="waffle-54"/>
          <p:cNvSpPr/>
          <p:nvPr/>
        </p:nvSpPr>
        <p:spPr>
          <a:xfrm>
            <a:off x="22479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7" name="waffle-55"/>
          <p:cNvSpPr/>
          <p:nvPr/>
        </p:nvSpPr>
        <p:spPr>
          <a:xfrm>
            <a:off x="26066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8" name="waffle-56"/>
          <p:cNvSpPr/>
          <p:nvPr/>
        </p:nvSpPr>
        <p:spPr>
          <a:xfrm>
            <a:off x="296545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9" name="waffle-57"/>
          <p:cNvSpPr/>
          <p:nvPr/>
        </p:nvSpPr>
        <p:spPr>
          <a:xfrm>
            <a:off x="332422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0" name="waffle-58"/>
          <p:cNvSpPr/>
          <p:nvPr/>
        </p:nvSpPr>
        <p:spPr>
          <a:xfrm>
            <a:off x="36830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1" name="waffle-59"/>
          <p:cNvSpPr/>
          <p:nvPr/>
        </p:nvSpPr>
        <p:spPr>
          <a:xfrm>
            <a:off x="40417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2" name="waffle-60"/>
          <p:cNvSpPr/>
          <p:nvPr/>
        </p:nvSpPr>
        <p:spPr>
          <a:xfrm>
            <a:off x="8128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3" name="waffle-61"/>
          <p:cNvSpPr/>
          <p:nvPr/>
        </p:nvSpPr>
        <p:spPr>
          <a:xfrm>
            <a:off x="11715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4" name="waffle-62"/>
          <p:cNvSpPr/>
          <p:nvPr/>
        </p:nvSpPr>
        <p:spPr>
          <a:xfrm>
            <a:off x="153035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5" name="waffle-63"/>
          <p:cNvSpPr/>
          <p:nvPr/>
        </p:nvSpPr>
        <p:spPr>
          <a:xfrm>
            <a:off x="188912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6" name="waffle-64"/>
          <p:cNvSpPr/>
          <p:nvPr/>
        </p:nvSpPr>
        <p:spPr>
          <a:xfrm>
            <a:off x="22479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7" name="waffle-65"/>
          <p:cNvSpPr/>
          <p:nvPr/>
        </p:nvSpPr>
        <p:spPr>
          <a:xfrm>
            <a:off x="26066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8" name="waffle-66"/>
          <p:cNvSpPr/>
          <p:nvPr/>
        </p:nvSpPr>
        <p:spPr>
          <a:xfrm>
            <a:off x="296545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9" name="waffle-67"/>
          <p:cNvSpPr/>
          <p:nvPr/>
        </p:nvSpPr>
        <p:spPr>
          <a:xfrm>
            <a:off x="332422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0" name="waffle-68"/>
          <p:cNvSpPr/>
          <p:nvPr/>
        </p:nvSpPr>
        <p:spPr>
          <a:xfrm>
            <a:off x="36830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1" name="waffle-69"/>
          <p:cNvSpPr/>
          <p:nvPr/>
        </p:nvSpPr>
        <p:spPr>
          <a:xfrm>
            <a:off x="40417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2" name="waffle-70"/>
          <p:cNvSpPr/>
          <p:nvPr/>
        </p:nvSpPr>
        <p:spPr>
          <a:xfrm>
            <a:off x="8128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3" name="waffle-71"/>
          <p:cNvSpPr/>
          <p:nvPr/>
        </p:nvSpPr>
        <p:spPr>
          <a:xfrm>
            <a:off x="11715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4" name="waffle-72"/>
          <p:cNvSpPr/>
          <p:nvPr/>
        </p:nvSpPr>
        <p:spPr>
          <a:xfrm>
            <a:off x="153035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5" name="waffle-73"/>
          <p:cNvSpPr/>
          <p:nvPr/>
        </p:nvSpPr>
        <p:spPr>
          <a:xfrm>
            <a:off x="188912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6" name="waffle-74"/>
          <p:cNvSpPr/>
          <p:nvPr/>
        </p:nvSpPr>
        <p:spPr>
          <a:xfrm>
            <a:off x="22479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7" name="waffle-75"/>
          <p:cNvSpPr/>
          <p:nvPr/>
        </p:nvSpPr>
        <p:spPr>
          <a:xfrm>
            <a:off x="26066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8" name="waffle-76"/>
          <p:cNvSpPr/>
          <p:nvPr/>
        </p:nvSpPr>
        <p:spPr>
          <a:xfrm>
            <a:off x="296545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9" name="waffle-77"/>
          <p:cNvSpPr/>
          <p:nvPr/>
        </p:nvSpPr>
        <p:spPr>
          <a:xfrm>
            <a:off x="332422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0" name="waffle-78"/>
          <p:cNvSpPr/>
          <p:nvPr/>
        </p:nvSpPr>
        <p:spPr>
          <a:xfrm>
            <a:off x="36830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1" name="waffle-79"/>
          <p:cNvSpPr/>
          <p:nvPr/>
        </p:nvSpPr>
        <p:spPr>
          <a:xfrm>
            <a:off x="40417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2" name="waffle-80"/>
          <p:cNvSpPr/>
          <p:nvPr/>
        </p:nvSpPr>
        <p:spPr>
          <a:xfrm>
            <a:off x="8128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3" name="waffle-81"/>
          <p:cNvSpPr/>
          <p:nvPr/>
        </p:nvSpPr>
        <p:spPr>
          <a:xfrm>
            <a:off x="11715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4" name="waffle-82"/>
          <p:cNvSpPr/>
          <p:nvPr/>
        </p:nvSpPr>
        <p:spPr>
          <a:xfrm>
            <a:off x="153035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5" name="waffle-83"/>
          <p:cNvSpPr/>
          <p:nvPr/>
        </p:nvSpPr>
        <p:spPr>
          <a:xfrm>
            <a:off x="188912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6" name="waffle-84"/>
          <p:cNvSpPr/>
          <p:nvPr/>
        </p:nvSpPr>
        <p:spPr>
          <a:xfrm>
            <a:off x="22479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7" name="waffle-85"/>
          <p:cNvSpPr/>
          <p:nvPr/>
        </p:nvSpPr>
        <p:spPr>
          <a:xfrm>
            <a:off x="26066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8" name="waffle-86"/>
          <p:cNvSpPr/>
          <p:nvPr/>
        </p:nvSpPr>
        <p:spPr>
          <a:xfrm>
            <a:off x="296545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9" name="waffle-87"/>
          <p:cNvSpPr/>
          <p:nvPr/>
        </p:nvSpPr>
        <p:spPr>
          <a:xfrm>
            <a:off x="332422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0" name="waffle-88"/>
          <p:cNvSpPr/>
          <p:nvPr/>
        </p:nvSpPr>
        <p:spPr>
          <a:xfrm>
            <a:off x="36830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1" name="waffle-89"/>
          <p:cNvSpPr/>
          <p:nvPr/>
        </p:nvSpPr>
        <p:spPr>
          <a:xfrm>
            <a:off x="40417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2" name="waffle-90"/>
          <p:cNvSpPr/>
          <p:nvPr/>
        </p:nvSpPr>
        <p:spPr>
          <a:xfrm>
            <a:off x="8128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3" name="waffle-91"/>
          <p:cNvSpPr/>
          <p:nvPr/>
        </p:nvSpPr>
        <p:spPr>
          <a:xfrm>
            <a:off x="11715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4" name="waffle-92"/>
          <p:cNvSpPr/>
          <p:nvPr/>
        </p:nvSpPr>
        <p:spPr>
          <a:xfrm>
            <a:off x="153035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5" name="waffle-93"/>
          <p:cNvSpPr/>
          <p:nvPr/>
        </p:nvSpPr>
        <p:spPr>
          <a:xfrm>
            <a:off x="188912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6" name="waffle-94"/>
          <p:cNvSpPr/>
          <p:nvPr/>
        </p:nvSpPr>
        <p:spPr>
          <a:xfrm>
            <a:off x="22479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7" name="waffle-95"/>
          <p:cNvSpPr/>
          <p:nvPr/>
        </p:nvSpPr>
        <p:spPr>
          <a:xfrm>
            <a:off x="26066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8" name="waffle-96"/>
          <p:cNvSpPr/>
          <p:nvPr/>
        </p:nvSpPr>
        <p:spPr>
          <a:xfrm>
            <a:off x="296545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9" name="waffle-97"/>
          <p:cNvSpPr/>
          <p:nvPr/>
        </p:nvSpPr>
        <p:spPr>
          <a:xfrm>
            <a:off x="332422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100" name="waffle-98"/>
          <p:cNvSpPr/>
          <p:nvPr/>
        </p:nvSpPr>
        <p:spPr>
          <a:xfrm>
            <a:off x="36830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101" name="waffle-99"/>
          <p:cNvSpPr/>
          <p:nvPr/>
        </p:nvSpPr>
        <p:spPr>
          <a:xfrm>
            <a:off x="40417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102" name="pill-6"/>
          <p:cNvSpPr/>
          <p:nvPr/>
        </p:nvSpPr>
        <p:spPr>
          <a:xfrm>
            <a:off x="5130800" y="20129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03" name="text-7"/>
          <p:cNvSpPr txBox="1"/>
          <p:nvPr/>
        </p:nvSpPr>
        <p:spPr>
          <a:xfrm>
            <a:off x="5130800" y="2413000"/>
            <a:ext cx="62484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0" b="1" spc="-300" kern="0" dirty="0">
                <a:solidFill>
                  <a:schemeClr val="tx1"/>
                </a:solidFill>
              </a:rPr>
              <a:t>89%</a:t>
            </a:r>
            <a:endParaRPr lang="en-US" sz="10000" dirty="0"/>
          </a:p>
        </p:txBody>
      </p:sp>
      <p:sp>
        <p:nvSpPr>
          <p:cNvPr id="104" name="text-8"/>
          <p:cNvSpPr txBox="1"/>
          <p:nvPr/>
        </p:nvSpPr>
        <p:spPr>
          <a:xfrm>
            <a:off x="5130800" y="3924300"/>
            <a:ext cx="624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of Canadians brush daily.</a:t>
            </a:r>
            <a:endParaRPr lang="en-US" sz="2000" dirty="0"/>
          </a:p>
        </p:txBody>
      </p:sp>
      <p:sp>
        <p:nvSpPr>
          <p:cNvPr id="105" name="text-9"/>
          <p:cNvSpPr txBox="1"/>
          <p:nvPr/>
        </p:nvSpPr>
        <p:spPr>
          <a:xfrm>
            <a:off x="5130800" y="4419600"/>
            <a:ext cx="6248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Brushing is an established habit. Awareness of oral microbiome health is low.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0"/>
          <p:cNvSpPr txBox="1"/>
          <p:nvPr/>
        </p:nvSpPr>
        <p:spPr>
          <a:xfrm>
            <a:off x="571500" y="444500"/>
            <a:ext cx="3528568" cy="79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CCCED2"/>
                </a:solidFill>
              </a:rPr>
              <a:t>Whitening</a:t>
            </a:r>
            <a:endParaRPr lang="en-US" sz="4800" dirty="0"/>
          </a:p>
        </p:txBody>
      </p:sp>
      <p:sp>
        <p:nvSpPr>
          <p:cNvPr id="3" name="text-11"/>
          <p:cNvSpPr txBox="1"/>
          <p:nvPr/>
        </p:nvSpPr>
        <p:spPr>
          <a:xfrm>
            <a:off x="4445000" y="381000"/>
            <a:ext cx="296164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7D4CC"/>
                </a:solidFill>
              </a:rPr>
              <a:t>Fresh breath</a:t>
            </a:r>
            <a:endParaRPr lang="en-US" sz="3000" dirty="0"/>
          </a:p>
        </p:txBody>
      </p:sp>
      <p:sp>
        <p:nvSpPr>
          <p:cNvPr id="4" name="text-12"/>
          <p:cNvSpPr txBox="1"/>
          <p:nvPr/>
        </p:nvSpPr>
        <p:spPr>
          <a:xfrm>
            <a:off x="7810500" y="571500"/>
            <a:ext cx="3591560" cy="660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D1D2D4"/>
                </a:solidFill>
              </a:rPr>
              <a:t>Enamel care</a:t>
            </a:r>
            <a:endParaRPr lang="en-US" sz="4000" dirty="0"/>
          </a:p>
        </p:txBody>
      </p:sp>
      <p:sp>
        <p:nvSpPr>
          <p:cNvPr id="5" name="text-13"/>
          <p:cNvSpPr txBox="1"/>
          <p:nvPr/>
        </p:nvSpPr>
        <p:spPr>
          <a:xfrm>
            <a:off x="698500" y="1587500"/>
            <a:ext cx="324510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1CAAA"/>
                </a:solidFill>
              </a:rPr>
              <a:t>Sensitivity relief</a:t>
            </a:r>
            <a:endParaRPr lang="en-US" sz="2200" dirty="0"/>
          </a:p>
        </p:txBody>
      </p:sp>
      <p:sp>
        <p:nvSpPr>
          <p:cNvPr id="6" name="text-14"/>
          <p:cNvSpPr txBox="1"/>
          <p:nvPr/>
        </p:nvSpPr>
        <p:spPr>
          <a:xfrm>
            <a:off x="4064000" y="1397000"/>
            <a:ext cx="2331720" cy="46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C8CACF"/>
                </a:solidFill>
              </a:rPr>
              <a:t>Deep clean</a:t>
            </a:r>
            <a:endParaRPr lang="en-US" sz="2800" dirty="0"/>
          </a:p>
        </p:txBody>
      </p:sp>
      <p:sp>
        <p:nvSpPr>
          <p:cNvPr id="7" name="text-15"/>
          <p:cNvSpPr txBox="1"/>
          <p:nvPr/>
        </p:nvSpPr>
        <p:spPr>
          <a:xfrm>
            <a:off x="6985000" y="1587500"/>
            <a:ext cx="154432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ADCFC7"/>
                </a:solidFill>
              </a:rPr>
              <a:t>Cool mint</a:t>
            </a:r>
            <a:endParaRPr lang="en-US" sz="2000" dirty="0"/>
          </a:p>
        </p:txBody>
      </p:sp>
      <p:sp>
        <p:nvSpPr>
          <p:cNvPr id="8" name="text-16"/>
          <p:cNvSpPr txBox="1"/>
          <p:nvPr/>
        </p:nvSpPr>
        <p:spPr>
          <a:xfrm>
            <a:off x="9017000" y="1714500"/>
            <a:ext cx="2993136" cy="429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BFD2B6"/>
                </a:solidFill>
              </a:rPr>
              <a:t>Tartar control</a:t>
            </a:r>
            <a:endParaRPr lang="en-US" sz="2600" dirty="0"/>
          </a:p>
        </p:txBody>
      </p:sp>
      <p:sp>
        <p:nvSpPr>
          <p:cNvPr id="9" name="text-17"/>
          <p:cNvSpPr txBox="1"/>
          <p:nvPr/>
        </p:nvSpPr>
        <p:spPr>
          <a:xfrm>
            <a:off x="381000" y="2667000"/>
            <a:ext cx="2142744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CCCED2"/>
                </a:solidFill>
              </a:rPr>
              <a:t>Gum care</a:t>
            </a:r>
            <a:endParaRPr lang="en-US" sz="3200" dirty="0"/>
          </a:p>
        </p:txBody>
      </p:sp>
      <p:sp>
        <p:nvSpPr>
          <p:cNvPr id="10" name="text-18"/>
          <p:cNvSpPr txBox="1"/>
          <p:nvPr/>
        </p:nvSpPr>
        <p:spPr>
          <a:xfrm>
            <a:off x="825500" y="3556000"/>
            <a:ext cx="144983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2D1C9"/>
                </a:solidFill>
              </a:rPr>
              <a:t>Natural</a:t>
            </a:r>
            <a:endParaRPr lang="en-US" sz="2400" dirty="0"/>
          </a:p>
        </p:txBody>
      </p:sp>
      <p:sp>
        <p:nvSpPr>
          <p:cNvPr id="11" name="text-19"/>
          <p:cNvSpPr txBox="1"/>
          <p:nvPr/>
        </p:nvSpPr>
        <p:spPr>
          <a:xfrm>
            <a:off x="444500" y="4318000"/>
            <a:ext cx="138684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7CDAF"/>
                </a:solidFill>
              </a:rPr>
              <a:t>Fluoride</a:t>
            </a:r>
            <a:endParaRPr lang="en-US" sz="2000" dirty="0"/>
          </a:p>
        </p:txBody>
      </p:sp>
      <p:sp>
        <p:nvSpPr>
          <p:cNvPr id="12" name="text-20"/>
          <p:cNvSpPr txBox="1"/>
          <p:nvPr/>
        </p:nvSpPr>
        <p:spPr>
          <a:xfrm>
            <a:off x="10033000" y="2540000"/>
            <a:ext cx="209550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D1D2D4"/>
                </a:solidFill>
              </a:rPr>
              <a:t>Advanced</a:t>
            </a:r>
            <a:endParaRPr lang="en-US" sz="3600" dirty="0"/>
          </a:p>
        </p:txBody>
      </p:sp>
      <p:sp>
        <p:nvSpPr>
          <p:cNvPr id="13" name="text-21"/>
          <p:cNvSpPr txBox="1"/>
          <p:nvPr/>
        </p:nvSpPr>
        <p:spPr>
          <a:xfrm>
            <a:off x="10287000" y="3556000"/>
            <a:ext cx="163880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BD0B3"/>
                </a:solidFill>
              </a:rPr>
              <a:t>Charcoal</a:t>
            </a:r>
            <a:endParaRPr lang="en-US" sz="2400" dirty="0"/>
          </a:p>
        </p:txBody>
      </p:sp>
      <p:sp>
        <p:nvSpPr>
          <p:cNvPr id="14" name="text-22"/>
          <p:cNvSpPr txBox="1"/>
          <p:nvPr/>
        </p:nvSpPr>
        <p:spPr>
          <a:xfrm>
            <a:off x="10096500" y="4318000"/>
            <a:ext cx="151282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7D4CC"/>
                </a:solidFill>
              </a:rPr>
              <a:t>Clinical</a:t>
            </a:r>
            <a:endParaRPr lang="en-US" sz="2200" dirty="0"/>
          </a:p>
        </p:txBody>
      </p:sp>
      <p:sp>
        <p:nvSpPr>
          <p:cNvPr id="15" name="text-23"/>
          <p:cNvSpPr txBox="1"/>
          <p:nvPr/>
        </p:nvSpPr>
        <p:spPr>
          <a:xfrm>
            <a:off x="571500" y="5080000"/>
            <a:ext cx="381203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D1D2D4"/>
                </a:solidFill>
              </a:rPr>
              <a:t>Stain removal</a:t>
            </a:r>
            <a:endParaRPr lang="en-US" sz="3600" dirty="0"/>
          </a:p>
        </p:txBody>
      </p:sp>
      <p:sp>
        <p:nvSpPr>
          <p:cNvPr id="16" name="text-24"/>
          <p:cNvSpPr txBox="1"/>
          <p:nvPr/>
        </p:nvSpPr>
        <p:spPr>
          <a:xfrm>
            <a:off x="4445000" y="4953000"/>
            <a:ext cx="3402584" cy="429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B7D4CC"/>
                </a:solidFill>
              </a:rPr>
              <a:t>Daily protection</a:t>
            </a:r>
            <a:endParaRPr lang="en-US" sz="2600" dirty="0"/>
          </a:p>
        </p:txBody>
      </p:sp>
      <p:sp>
        <p:nvSpPr>
          <p:cNvPr id="17" name="text-25"/>
          <p:cNvSpPr txBox="1"/>
          <p:nvPr/>
        </p:nvSpPr>
        <p:spPr>
          <a:xfrm>
            <a:off x="7747000" y="5080000"/>
            <a:ext cx="319786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CCCED2"/>
                </a:solidFill>
              </a:rPr>
              <a:t>Strengthening</a:t>
            </a:r>
            <a:endParaRPr lang="en-US" sz="3000" dirty="0"/>
          </a:p>
        </p:txBody>
      </p:sp>
      <p:sp>
        <p:nvSpPr>
          <p:cNvPr id="18" name="text-26"/>
          <p:cNvSpPr txBox="1"/>
          <p:nvPr/>
        </p:nvSpPr>
        <p:spPr>
          <a:xfrm>
            <a:off x="3302000" y="5905500"/>
            <a:ext cx="116636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BD0B3"/>
                </a:solidFill>
              </a:rPr>
              <a:t>Herbal</a:t>
            </a:r>
            <a:endParaRPr lang="en-US" sz="2200" dirty="0"/>
          </a:p>
        </p:txBody>
      </p:sp>
      <p:sp>
        <p:nvSpPr>
          <p:cNvPr id="19" name="text-27"/>
          <p:cNvSpPr txBox="1"/>
          <p:nvPr/>
        </p:nvSpPr>
        <p:spPr>
          <a:xfrm>
            <a:off x="6350000" y="5842000"/>
            <a:ext cx="2552192" cy="46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D1D2D4"/>
                </a:solidFill>
              </a:rPr>
              <a:t>Extra fresh</a:t>
            </a:r>
            <a:endParaRPr lang="en-US" sz="2800" dirty="0"/>
          </a:p>
        </p:txBody>
      </p:sp>
      <p:sp>
        <p:nvSpPr>
          <p:cNvPr id="20" name="text-28"/>
          <p:cNvSpPr txBox="1"/>
          <p:nvPr/>
        </p:nvSpPr>
        <p:spPr>
          <a:xfrm>
            <a:off x="9652000" y="6032500"/>
            <a:ext cx="163880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7D4CC"/>
                </a:solidFill>
              </a:rPr>
              <a:t>Complete</a:t>
            </a:r>
            <a:endParaRPr lang="en-US" sz="2400" dirty="0"/>
          </a:p>
        </p:txBody>
      </p:sp>
      <p:sp>
        <p:nvSpPr>
          <p:cNvPr id="21" name="text-29"/>
          <p:cNvSpPr txBox="1"/>
          <p:nvPr/>
        </p:nvSpPr>
        <p:spPr>
          <a:xfrm>
            <a:off x="1016000" y="6096000"/>
            <a:ext cx="185928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8CACF"/>
                </a:solidFill>
              </a:rPr>
              <a:t>Pro formula</a:t>
            </a:r>
            <a:endParaRPr lang="en-US" sz="2000" dirty="0"/>
          </a:p>
        </p:txBody>
      </p:sp>
      <p:sp>
        <p:nvSpPr>
          <p:cNvPr id="22" name="perception-panel"/>
          <p:cNvSpPr/>
          <p:nvPr/>
        </p:nvSpPr>
        <p:spPr>
          <a:xfrm>
            <a:off x="2286000" y="2127250"/>
            <a:ext cx="7620000" cy="2609850"/>
          </a:xfrm>
          <a:prstGeom prst="roundRect">
            <a:avLst>
              <a:gd name="adj" fmla="val 7786"/>
            </a:avLst>
          </a:prstGeom>
          <a:solidFill>
            <a:srgbClr val="FCFAF4">
              <a:alpha val="94000"/>
            </a:srgbClr>
          </a:solidFill>
          <a:ln w="9525">
            <a:solidFill>
              <a:srgbClr val="E3DDD0"/>
            </a:solidFill>
            <a:prstDash val="solid"/>
          </a:ln>
          <a:effectLst>
            <a:outerShdw sx="100000" sy="100000" kx="0" ky="0" algn="bl" rotWithShape="0" blurRad="381000" dist="101600" dir="5400000">
              <a:srgbClr val="0A2463">
                <a:alpha val="8000"/>
              </a:srgbClr>
            </a:outerShdw>
          </a:effectLst>
        </p:spPr>
      </p:sp>
      <p:sp>
        <p:nvSpPr>
          <p:cNvPr id="23" name="text-30"/>
          <p:cNvSpPr txBox="1"/>
          <p:nvPr/>
        </p:nvSpPr>
        <p:spPr>
          <a:xfrm>
            <a:off x="2794000" y="2482850"/>
            <a:ext cx="660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CONSUMER PERCEPTION</a:t>
            </a:r>
            <a:endParaRPr lang="en-US" sz="1200" dirty="0"/>
          </a:p>
        </p:txBody>
      </p:sp>
      <p:sp>
        <p:nvSpPr>
          <p:cNvPr id="24" name="text-31"/>
          <p:cNvSpPr txBox="1"/>
          <p:nvPr/>
        </p:nvSpPr>
        <p:spPr>
          <a:xfrm>
            <a:off x="2794000" y="2825750"/>
            <a:ext cx="660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chemeClr val="tx1"/>
                </a:solidFill>
              </a:rPr>
              <a:t>To many shoppers, toothpastes can feel interchangeable.</a:t>
            </a:r>
            <a:endParaRPr lang="en-US" sz="3200" dirty="0"/>
          </a:p>
        </p:txBody>
      </p:sp>
      <p:sp>
        <p:nvSpPr>
          <p:cNvPr id="25" name="text-32"/>
          <p:cNvSpPr txBox="1"/>
          <p:nvPr/>
        </p:nvSpPr>
        <p:spPr>
          <a:xfrm>
            <a:off x="2794000" y="3937000"/>
            <a:ext cx="660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category keeps innovating, yet similar-sounding claims can blur together at the shelf.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3"/>
          <p:cNvSpPr txBox="1"/>
          <p:nvPr/>
        </p:nvSpPr>
        <p:spPr>
          <a:xfrm>
            <a:off x="812800" y="17970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THE CHALLENGE</a:t>
            </a:r>
            <a:endParaRPr lang="en-US" sz="1200" dirty="0"/>
          </a:p>
        </p:txBody>
      </p:sp>
      <p:sp>
        <p:nvSpPr>
          <p:cNvPr id="3" name="text-34"/>
          <p:cNvSpPr txBox="1"/>
          <p:nvPr/>
        </p:nvSpPr>
        <p:spPr>
          <a:xfrm>
            <a:off x="812800" y="2286000"/>
            <a:ext cx="825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An established habit, a low-awareness benefit and a category where many options can feel alike.</a:t>
            </a:r>
            <a:endParaRPr lang="en-US" sz="2000" dirty="0"/>
          </a:p>
        </p:txBody>
      </p:sp>
      <p:sp>
        <p:nvSpPr>
          <p:cNvPr id="4" name="text-35"/>
          <p:cNvSpPr txBox="1"/>
          <p:nvPr/>
        </p:nvSpPr>
        <p:spPr>
          <a:xfrm>
            <a:off x="812800" y="3302000"/>
            <a:ext cx="10160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How can Crest make an unfamiliar benefit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understandable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emotionally relevant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 and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worth choosing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?</a:t>
            </a:r>
            <a:endParaRPr lang="en-US" sz="3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Target Consumer</a:t>
            </a:r>
            <a:endParaRPr lang="en-US" sz="4000" dirty="0"/>
          </a:p>
        </p:txBody>
      </p:sp>
      <p:sp>
        <p:nvSpPr>
          <p:cNvPr id="3" name="text-36"/>
          <p:cNvSpPr txBox="1"/>
          <p:nvPr/>
        </p:nvSpPr>
        <p:spPr>
          <a:xfrm>
            <a:off x="812800" y="1498600"/>
            <a:ext cx="4826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accent1"/>
                </a:solidFill>
              </a:rPr>
              <a:t>Wellness-minded adults, aged 25–45</a:t>
            </a:r>
            <a:endParaRPr lang="en-US" sz="2000" dirty="0"/>
          </a:p>
        </p:txBody>
      </p:sp>
      <p:sp>
        <p:nvSpPr>
          <p:cNvPr id="4" name="pill-37"/>
          <p:cNvSpPr/>
          <p:nvPr/>
        </p:nvSpPr>
        <p:spPr>
          <a:xfrm>
            <a:off x="5715000" y="15303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5" name="shape-38"/>
          <p:cNvSpPr/>
          <p:nvPr/>
        </p:nvSpPr>
        <p:spPr>
          <a:xfrm>
            <a:off x="812800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icon-bg-39"/>
          <p:cNvSpPr/>
          <p:nvPr/>
        </p:nvSpPr>
        <p:spPr>
          <a:xfrm>
            <a:off x="1117600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7" name="icon-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900" y="2552700"/>
            <a:ext cx="279400" cy="279400"/>
          </a:xfrm>
          <a:prstGeom prst="rect">
            <a:avLst/>
          </a:prstGeom>
        </p:spPr>
      </p:pic>
      <p:sp>
        <p:nvSpPr>
          <p:cNvPr id="8" name="text-40"/>
          <p:cNvSpPr txBox="1"/>
          <p:nvPr/>
        </p:nvSpPr>
        <p:spPr>
          <a:xfrm>
            <a:off x="1117600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Interested in health</a:t>
            </a:r>
            <a:endParaRPr lang="en-US" sz="2000" dirty="0"/>
          </a:p>
        </p:txBody>
      </p:sp>
      <p:sp>
        <p:nvSpPr>
          <p:cNvPr id="9" name="text-41"/>
          <p:cNvSpPr txBox="1"/>
          <p:nvPr/>
        </p:nvSpPr>
        <p:spPr>
          <a:xfrm>
            <a:off x="1117600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10" name="text-42"/>
          <p:cNvSpPr txBox="1"/>
          <p:nvPr/>
        </p:nvSpPr>
        <p:spPr>
          <a:xfrm>
            <a:off x="1117600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Show brushing as part of how they already care for themselves.</a:t>
            </a:r>
            <a:endParaRPr lang="en-US" sz="1400" dirty="0"/>
          </a:p>
        </p:txBody>
      </p:sp>
      <p:sp>
        <p:nvSpPr>
          <p:cNvPr id="11" name="shape-43"/>
          <p:cNvSpPr/>
          <p:nvPr/>
        </p:nvSpPr>
        <p:spPr>
          <a:xfrm>
            <a:off x="4402455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icon-bg-44"/>
          <p:cNvSpPr/>
          <p:nvPr/>
        </p:nvSpPr>
        <p:spPr>
          <a:xfrm>
            <a:off x="4707255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3" name="icon-4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555" y="2552700"/>
            <a:ext cx="279400" cy="279400"/>
          </a:xfrm>
          <a:prstGeom prst="rect">
            <a:avLst/>
          </a:prstGeom>
        </p:spPr>
      </p:pic>
      <p:sp>
        <p:nvSpPr>
          <p:cNvPr id="14" name="text-45"/>
          <p:cNvSpPr txBox="1"/>
          <p:nvPr/>
        </p:nvSpPr>
        <p:spPr>
          <a:xfrm>
            <a:off x="4707255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Open to premium when the benefit is clear</a:t>
            </a:r>
            <a:endParaRPr lang="en-US" sz="2000" dirty="0"/>
          </a:p>
        </p:txBody>
      </p:sp>
      <p:sp>
        <p:nvSpPr>
          <p:cNvPr id="15" name="text-46"/>
          <p:cNvSpPr txBox="1"/>
          <p:nvPr/>
        </p:nvSpPr>
        <p:spPr>
          <a:xfrm>
            <a:off x="4707255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16" name="text-47"/>
          <p:cNvSpPr txBox="1"/>
          <p:nvPr/>
        </p:nvSpPr>
        <p:spPr>
          <a:xfrm>
            <a:off x="4707255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Make the added benefit simple, specific and credible.</a:t>
            </a:r>
            <a:endParaRPr lang="en-US" sz="1400" dirty="0"/>
          </a:p>
        </p:txBody>
      </p:sp>
      <p:sp>
        <p:nvSpPr>
          <p:cNvPr id="17" name="shape-48"/>
          <p:cNvSpPr/>
          <p:nvPr/>
        </p:nvSpPr>
        <p:spPr>
          <a:xfrm>
            <a:off x="7992110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icon-bg-49"/>
          <p:cNvSpPr/>
          <p:nvPr/>
        </p:nvSpPr>
        <p:spPr>
          <a:xfrm>
            <a:off x="8296910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con-4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1210" y="2552700"/>
            <a:ext cx="279400" cy="279400"/>
          </a:xfrm>
          <a:prstGeom prst="rect">
            <a:avLst/>
          </a:prstGeom>
        </p:spPr>
      </p:pic>
      <p:sp>
        <p:nvSpPr>
          <p:cNvPr id="20" name="text-50"/>
          <p:cNvSpPr txBox="1"/>
          <p:nvPr/>
        </p:nvSpPr>
        <p:spPr>
          <a:xfrm>
            <a:off x="8296910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Prefer simple routines</a:t>
            </a:r>
            <a:endParaRPr lang="en-US" sz="2000" dirty="0"/>
          </a:p>
        </p:txBody>
      </p:sp>
      <p:sp>
        <p:nvSpPr>
          <p:cNvPr id="21" name="text-51"/>
          <p:cNvSpPr txBox="1"/>
          <p:nvPr/>
        </p:nvSpPr>
        <p:spPr>
          <a:xfrm>
            <a:off x="8296910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22" name="text-52"/>
          <p:cNvSpPr txBox="1"/>
          <p:nvPr/>
        </p:nvSpPr>
        <p:spPr>
          <a:xfrm>
            <a:off x="8296910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Build on the brushing they already do. Add no new steps.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3"/>
          <p:cNvSpPr txBox="1"/>
          <p:nvPr/>
        </p:nvSpPr>
        <p:spPr>
          <a:xfrm>
            <a:off x="812800" y="812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3" name="text-54"/>
          <p:cNvSpPr txBox="1"/>
          <p:nvPr/>
        </p:nvSpPr>
        <p:spPr>
          <a:xfrm>
            <a:off x="812800" y="1244600"/>
            <a:ext cx="6451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Make brushing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first act of self-care.</a:t>
            </a:r>
            <a:endParaRPr lang="en-US" sz="4000" dirty="0"/>
          </a:p>
        </p:txBody>
      </p:sp>
      <p:sp>
        <p:nvSpPr>
          <p:cNvPr id="4" name="text-55"/>
          <p:cNvSpPr txBox="1"/>
          <p:nvPr/>
        </p:nvSpPr>
        <p:spPr>
          <a:xfrm>
            <a:off x="812800" y="2667000"/>
            <a:ext cx="64516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For wellness-minded Canadians, Crest MicroBiome makes everyday brushing an act of self-care—with cavity protection and support for the helpful bacteria already in your mouth.</a:t>
            </a:r>
            <a:endParaRPr lang="en-US" sz="1500" dirty="0"/>
          </a:p>
        </p:txBody>
      </p:sp>
      <p:sp>
        <p:nvSpPr>
          <p:cNvPr id="5" name="shape-56"/>
          <p:cNvSpPr/>
          <p:nvPr/>
        </p:nvSpPr>
        <p:spPr>
          <a:xfrm>
            <a:off x="812800" y="4064000"/>
            <a:ext cx="3149600" cy="15240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-57"/>
          <p:cNvSpPr txBox="1"/>
          <p:nvPr/>
        </p:nvSpPr>
        <p:spPr>
          <a:xfrm>
            <a:off x="1016000" y="42672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EMOTIONAL RELEVANCE</a:t>
            </a:r>
            <a:endParaRPr lang="en-US" sz="1200" dirty="0"/>
          </a:p>
        </p:txBody>
      </p:sp>
      <p:sp>
        <p:nvSpPr>
          <p:cNvPr id="7" name="text-58"/>
          <p:cNvSpPr txBox="1"/>
          <p:nvPr/>
        </p:nvSpPr>
        <p:spPr>
          <a:xfrm>
            <a:off x="1016000" y="4559300"/>
            <a:ext cx="2743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 small moment of care for yourself before the demands of the day.</a:t>
            </a:r>
            <a:endParaRPr lang="en-US" sz="1400" dirty="0"/>
          </a:p>
        </p:txBody>
      </p:sp>
      <p:sp>
        <p:nvSpPr>
          <p:cNvPr id="8" name="shape-59"/>
          <p:cNvSpPr/>
          <p:nvPr/>
        </p:nvSpPr>
        <p:spPr>
          <a:xfrm>
            <a:off x="4114800" y="4064000"/>
            <a:ext cx="3149600" cy="152400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</p:spPr>
      </p:sp>
      <p:sp>
        <p:nvSpPr>
          <p:cNvPr id="9" name="text-60"/>
          <p:cNvSpPr txBox="1"/>
          <p:nvPr/>
        </p:nvSpPr>
        <p:spPr>
          <a:xfrm>
            <a:off x="4318000" y="42672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FUNCTIONAL DIFFERENCE</a:t>
            </a:r>
            <a:endParaRPr lang="en-US" sz="1200" dirty="0"/>
          </a:p>
        </p:txBody>
      </p:sp>
      <p:sp>
        <p:nvSpPr>
          <p:cNvPr id="10" name="text-61"/>
          <p:cNvSpPr txBox="1"/>
          <p:nvPr/>
        </p:nvSpPr>
        <p:spPr>
          <a:xfrm>
            <a:off x="4318000" y="4559300"/>
            <a:ext cx="2743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Cavity protection plus support for helpful bacteria.</a:t>
            </a:r>
            <a:endParaRPr lang="en-US" sz="1400" dirty="0"/>
          </a:p>
        </p:txBody>
      </p:sp>
      <p:pic>
        <p:nvPicPr>
          <p:cNvPr id="11" name="image-62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9200" y="1993900"/>
            <a:ext cx="3810000" cy="2997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63"/>
          <p:cNvSpPr txBox="1"/>
          <p:nvPr/>
        </p:nvSpPr>
        <p:spPr>
          <a:xfrm>
            <a:off x="812800" y="812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THE PRODUCT</a:t>
            </a:r>
            <a:endParaRPr lang="en-US" sz="1200" dirty="0"/>
          </a:p>
        </p:txBody>
      </p:sp>
      <p:sp>
        <p:nvSpPr>
          <p:cNvPr id="3" name="text-64"/>
          <p:cNvSpPr txBox="1"/>
          <p:nvPr/>
        </p:nvSpPr>
        <p:spPr>
          <a:xfrm>
            <a:off x="812800" y="1244600"/>
            <a:ext cx="5943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spc="-100" kern="0" dirty="0">
                <a:solidFill>
                  <a:schemeClr val="tx1"/>
                </a:solidFill>
              </a:rPr>
              <a:t>Your mouth has helpful bacteria, too.</a:t>
            </a:r>
            <a:endParaRPr lang="en-US" sz="4000" dirty="0"/>
          </a:p>
        </p:txBody>
      </p:sp>
      <p:sp>
        <p:nvSpPr>
          <p:cNvPr id="4" name="text-65"/>
          <p:cNvSpPr txBox="1"/>
          <p:nvPr/>
        </p:nvSpPr>
        <p:spPr>
          <a:xfrm>
            <a:off x="812800" y="260350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Crest MicroBiome helps support them while protecting your teeth against cavities.</a:t>
            </a:r>
            <a:endParaRPr lang="en-US" sz="2000" dirty="0"/>
          </a:p>
        </p:txBody>
      </p:sp>
      <p:sp>
        <p:nvSpPr>
          <p:cNvPr id="5" name="pill-66"/>
          <p:cNvSpPr/>
          <p:nvPr/>
        </p:nvSpPr>
        <p:spPr>
          <a:xfrm>
            <a:off x="812800" y="3530600"/>
            <a:ext cx="1905000" cy="3556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Cavity protection</a:t>
            </a:r>
            <a:endParaRPr lang="en-US" sz="1400" dirty="0"/>
          </a:p>
        </p:txBody>
      </p:sp>
      <p:sp>
        <p:nvSpPr>
          <p:cNvPr id="6" name="text-67"/>
          <p:cNvSpPr txBox="1"/>
          <p:nvPr/>
        </p:nvSpPr>
        <p:spPr>
          <a:xfrm>
            <a:off x="2794000" y="35306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accent1"/>
                </a:solidFill>
              </a:rPr>
              <a:t>+</a:t>
            </a:r>
            <a:endParaRPr lang="en-US" sz="2000" dirty="0"/>
          </a:p>
        </p:txBody>
      </p:sp>
      <p:sp>
        <p:nvSpPr>
          <p:cNvPr id="7" name="pill-68"/>
          <p:cNvSpPr/>
          <p:nvPr/>
        </p:nvSpPr>
        <p:spPr>
          <a:xfrm>
            <a:off x="3124200" y="3530600"/>
            <a:ext cx="260350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Care for helpful bacteria</a:t>
            </a:r>
            <a:endParaRPr lang="en-US" sz="1400" dirty="0"/>
          </a:p>
        </p:txBody>
      </p:sp>
      <p:sp>
        <p:nvSpPr>
          <p:cNvPr id="8" name="text-69"/>
          <p:cNvSpPr txBox="1"/>
          <p:nvPr/>
        </p:nvSpPr>
        <p:spPr>
          <a:xfrm>
            <a:off x="812800" y="4089400"/>
            <a:ext cx="5943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OralBio Complex: fluoride, zinc, vitamin B3 and a plant-based prebiotic. It supports bacteria already in the mouth; it does not add live probiotics.</a:t>
            </a:r>
            <a:endParaRPr lang="en-US" sz="1200" dirty="0"/>
          </a:p>
        </p:txBody>
      </p:sp>
      <p:sp>
        <p:nvSpPr>
          <p:cNvPr id="9" name="pill-70"/>
          <p:cNvSpPr/>
          <p:nvPr/>
        </p:nvSpPr>
        <p:spPr>
          <a:xfrm>
            <a:off x="812800" y="477520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0" name="pill-71"/>
          <p:cNvSpPr/>
          <p:nvPr/>
        </p:nvSpPr>
        <p:spPr>
          <a:xfrm>
            <a:off x="2254250" y="4775200"/>
            <a:ext cx="230505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PACKAGING CONCEPT</a:t>
            </a:r>
            <a:endParaRPr lang="en-US" sz="1200" dirty="0"/>
          </a:p>
        </p:txBody>
      </p:sp>
      <p:pic>
        <p:nvPicPr>
          <p:cNvPr id="11" name="image-72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1200" y="1794087"/>
            <a:ext cx="4318000" cy="33968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-73" descr="Crest MicroBiome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0781" y="1206500"/>
            <a:ext cx="2080638" cy="4445000"/>
          </a:xfrm>
          <a:prstGeom prst="rect">
            <a:avLst/>
          </a:prstGeom>
        </p:spPr>
      </p:pic>
      <p:sp>
        <p:nvSpPr>
          <p:cNvPr id="3" name="text-74"/>
          <p:cNvSpPr txBox="1"/>
          <p:nvPr/>
        </p:nvSpPr>
        <p:spPr>
          <a:xfrm>
            <a:off x="812800" y="18415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4"/>
                </a:solidFill>
              </a:rPr>
              <a:t>CAMPAIGN IDEA</a:t>
            </a:r>
            <a:endParaRPr lang="en-US" sz="1200" dirty="0"/>
          </a:p>
        </p:txBody>
      </p:sp>
      <p:sp>
        <p:nvSpPr>
          <p:cNvPr id="4" name="text-75"/>
          <p:cNvSpPr txBox="1"/>
          <p:nvPr/>
        </p:nvSpPr>
        <p:spPr>
          <a:xfrm>
            <a:off x="812800" y="2159000"/>
            <a:ext cx="7493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first two minutes are yours.</a:t>
            </a:r>
            <a:endParaRPr lang="en-US" sz="5000" dirty="0"/>
          </a:p>
        </p:txBody>
      </p:sp>
      <p:sp>
        <p:nvSpPr>
          <p:cNvPr id="5" name="text-76"/>
          <p:cNvSpPr txBox="1"/>
          <p:nvPr/>
        </p:nvSpPr>
        <p:spPr>
          <a:xfrm>
            <a:off x="812800" y="3937000"/>
            <a:ext cx="685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EF5F3"/>
                </a:solidFill>
              </a:rPr>
              <a:t>Before messages, work and school begin, take two minutes for yourself. The campaign gives an existing habit new meaning, with no complicated wellness routine to adopt.</a:t>
            </a:r>
            <a:endParaRPr lang="en-US" sz="1500" dirty="0"/>
          </a:p>
        </p:txBody>
      </p:sp>
      <p:sp>
        <p:nvSpPr>
          <p:cNvPr id="6" name="text-77"/>
          <p:cNvSpPr txBox="1"/>
          <p:nvPr/>
        </p:nvSpPr>
        <p:spPr>
          <a:xfrm>
            <a:off x="812800" y="5016500"/>
            <a:ext cx="685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Mornings are the hero moment. The message stays consistent with brushing twice a day.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CREST Framework</a:t>
            </a:r>
            <a:endParaRPr lang="en-US" sz="4000" dirty="0"/>
          </a:p>
        </p:txBody>
      </p:sp>
      <p:sp>
        <p:nvSpPr>
          <p:cNvPr id="3" name="text-78"/>
          <p:cNvSpPr txBox="1"/>
          <p:nvPr/>
        </p:nvSpPr>
        <p:spPr>
          <a:xfrm>
            <a:off x="812800" y="2463800"/>
            <a:ext cx="116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STAGE</a:t>
            </a:r>
            <a:endParaRPr lang="en-US" sz="1200" dirty="0"/>
          </a:p>
        </p:txBody>
      </p:sp>
      <p:sp>
        <p:nvSpPr>
          <p:cNvPr id="4" name="text-79"/>
          <p:cNvSpPr txBox="1"/>
          <p:nvPr/>
        </p:nvSpPr>
        <p:spPr>
          <a:xfrm>
            <a:off x="2082800" y="1574800"/>
            <a:ext cx="1778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6400" dirty="0"/>
          </a:p>
        </p:txBody>
      </p:sp>
      <p:sp>
        <p:nvSpPr>
          <p:cNvPr id="5" name="text-80"/>
          <p:cNvSpPr txBox="1"/>
          <p:nvPr/>
        </p:nvSpPr>
        <p:spPr>
          <a:xfrm>
            <a:off x="2082800" y="2463800"/>
            <a:ext cx="177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Connect</a:t>
            </a:r>
            <a:endParaRPr lang="en-US" sz="1400" dirty="0"/>
          </a:p>
        </p:txBody>
      </p:sp>
      <p:sp>
        <p:nvSpPr>
          <p:cNvPr id="6" name="text-81"/>
          <p:cNvSpPr txBox="1"/>
          <p:nvPr/>
        </p:nvSpPr>
        <p:spPr>
          <a:xfrm>
            <a:off x="3962400" y="1574800"/>
            <a:ext cx="1778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6400" dirty="0"/>
          </a:p>
        </p:txBody>
      </p:sp>
      <p:sp>
        <p:nvSpPr>
          <p:cNvPr id="7" name="text-82"/>
          <p:cNvSpPr txBox="1"/>
          <p:nvPr/>
        </p:nvSpPr>
        <p:spPr>
          <a:xfrm>
            <a:off x="3962400" y="2463800"/>
            <a:ext cx="177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Reveal</a:t>
            </a:r>
            <a:endParaRPr lang="en-US" sz="1400" dirty="0"/>
          </a:p>
        </p:txBody>
      </p:sp>
      <p:sp>
        <p:nvSpPr>
          <p:cNvPr id="8" name="text-83"/>
          <p:cNvSpPr txBox="1"/>
          <p:nvPr/>
        </p:nvSpPr>
        <p:spPr>
          <a:xfrm>
            <a:off x="5842000" y="1574800"/>
            <a:ext cx="1778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endParaRPr lang="en-US" sz="6400" dirty="0"/>
          </a:p>
        </p:txBody>
      </p:sp>
      <p:sp>
        <p:nvSpPr>
          <p:cNvPr id="9" name="text-84"/>
          <p:cNvSpPr txBox="1"/>
          <p:nvPr/>
        </p:nvSpPr>
        <p:spPr>
          <a:xfrm>
            <a:off x="5842000" y="2463800"/>
            <a:ext cx="177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Experience</a:t>
            </a:r>
            <a:endParaRPr lang="en-US" sz="1400" dirty="0"/>
          </a:p>
        </p:txBody>
      </p:sp>
      <p:sp>
        <p:nvSpPr>
          <p:cNvPr id="10" name="text-85"/>
          <p:cNvSpPr txBox="1"/>
          <p:nvPr/>
        </p:nvSpPr>
        <p:spPr>
          <a:xfrm>
            <a:off x="7721600" y="1574800"/>
            <a:ext cx="1778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6400" dirty="0"/>
          </a:p>
        </p:txBody>
      </p:sp>
      <p:sp>
        <p:nvSpPr>
          <p:cNvPr id="11" name="text-86"/>
          <p:cNvSpPr txBox="1"/>
          <p:nvPr/>
        </p:nvSpPr>
        <p:spPr>
          <a:xfrm>
            <a:off x="7721600" y="2463800"/>
            <a:ext cx="177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Shop</a:t>
            </a:r>
            <a:endParaRPr lang="en-US" sz="1400" dirty="0"/>
          </a:p>
        </p:txBody>
      </p:sp>
      <p:sp>
        <p:nvSpPr>
          <p:cNvPr id="12" name="text-87"/>
          <p:cNvSpPr txBox="1"/>
          <p:nvPr/>
        </p:nvSpPr>
        <p:spPr>
          <a:xfrm>
            <a:off x="9601200" y="1574800"/>
            <a:ext cx="1778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6400" dirty="0"/>
          </a:p>
        </p:txBody>
      </p:sp>
      <p:sp>
        <p:nvSpPr>
          <p:cNvPr id="13" name="text-88"/>
          <p:cNvSpPr txBox="1"/>
          <p:nvPr/>
        </p:nvSpPr>
        <p:spPr>
          <a:xfrm>
            <a:off x="9601200" y="2463800"/>
            <a:ext cx="177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Thrive</a:t>
            </a:r>
            <a:endParaRPr lang="en-US" sz="1400" dirty="0"/>
          </a:p>
        </p:txBody>
      </p:sp>
      <p:sp>
        <p:nvSpPr>
          <p:cNvPr id="14" name="rule-89"/>
          <p:cNvSpPr/>
          <p:nvPr/>
        </p:nvSpPr>
        <p:spPr>
          <a:xfrm>
            <a:off x="812800" y="2870200"/>
            <a:ext cx="1056640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5" name="rule-90"/>
          <p:cNvSpPr/>
          <p:nvPr/>
        </p:nvSpPr>
        <p:spPr>
          <a:xfrm>
            <a:off x="812800" y="3581400"/>
            <a:ext cx="10566400" cy="0"/>
          </a:xfrm>
          <a:prstGeom prst="line">
            <a:avLst/>
          </a:prstGeom>
          <a:noFill/>
          <a:ln w="9525">
            <a:solidFill>
              <a:srgbClr val="CFC8BA"/>
            </a:solidFill>
            <a:prstDash val="solid"/>
          </a:ln>
        </p:spPr>
      </p:sp>
      <p:sp>
        <p:nvSpPr>
          <p:cNvPr id="16" name="rule-91"/>
          <p:cNvSpPr/>
          <p:nvPr/>
        </p:nvSpPr>
        <p:spPr>
          <a:xfrm>
            <a:off x="812800" y="4292600"/>
            <a:ext cx="10566400" cy="0"/>
          </a:xfrm>
          <a:prstGeom prst="line">
            <a:avLst/>
          </a:prstGeom>
          <a:noFill/>
          <a:ln w="9525">
            <a:solidFill>
              <a:srgbClr val="CFC8BA"/>
            </a:solidFill>
            <a:prstDash val="solid"/>
          </a:ln>
        </p:spPr>
      </p:sp>
      <p:sp>
        <p:nvSpPr>
          <p:cNvPr id="17" name="rule-92"/>
          <p:cNvSpPr/>
          <p:nvPr/>
        </p:nvSpPr>
        <p:spPr>
          <a:xfrm>
            <a:off x="812800" y="4902200"/>
            <a:ext cx="1056640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8" name="text-93"/>
          <p:cNvSpPr txBox="1"/>
          <p:nvPr/>
        </p:nvSpPr>
        <p:spPr>
          <a:xfrm>
            <a:off x="812800" y="3060700"/>
            <a:ext cx="116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ROLE</a:t>
            </a:r>
            <a:endParaRPr lang="en-US" sz="1200" dirty="0"/>
          </a:p>
        </p:txBody>
      </p:sp>
      <p:sp>
        <p:nvSpPr>
          <p:cNvPr id="19" name="text-94"/>
          <p:cNvSpPr txBox="1"/>
          <p:nvPr/>
        </p:nvSpPr>
        <p:spPr>
          <a:xfrm>
            <a:off x="2082800" y="30353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Build emotional relevance</a:t>
            </a:r>
            <a:endParaRPr lang="en-US" sz="1400" dirty="0"/>
          </a:p>
        </p:txBody>
      </p:sp>
      <p:sp>
        <p:nvSpPr>
          <p:cNvPr id="20" name="text-95"/>
          <p:cNvSpPr txBox="1"/>
          <p:nvPr/>
        </p:nvSpPr>
        <p:spPr>
          <a:xfrm>
            <a:off x="3962400" y="30353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Explain the difference</a:t>
            </a:r>
            <a:endParaRPr lang="en-US" sz="1400" dirty="0"/>
          </a:p>
        </p:txBody>
      </p:sp>
      <p:sp>
        <p:nvSpPr>
          <p:cNvPr id="21" name="text-96"/>
          <p:cNvSpPr txBox="1"/>
          <p:nvPr/>
        </p:nvSpPr>
        <p:spPr>
          <a:xfrm>
            <a:off x="5842000" y="30353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22" name="text-97"/>
          <p:cNvSpPr txBox="1"/>
          <p:nvPr/>
        </p:nvSpPr>
        <p:spPr>
          <a:xfrm>
            <a:off x="7721600" y="30353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Convert to purchase</a:t>
            </a:r>
            <a:endParaRPr lang="en-US" sz="1400" dirty="0"/>
          </a:p>
        </p:txBody>
      </p:sp>
      <p:sp>
        <p:nvSpPr>
          <p:cNvPr id="23" name="text-98"/>
          <p:cNvSpPr txBox="1"/>
          <p:nvPr/>
        </p:nvSpPr>
        <p:spPr>
          <a:xfrm>
            <a:off x="9601200" y="30353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Build repeat &amp; community</a:t>
            </a:r>
            <a:endParaRPr lang="en-US" sz="1400" dirty="0"/>
          </a:p>
        </p:txBody>
      </p:sp>
      <p:sp>
        <p:nvSpPr>
          <p:cNvPr id="24" name="text-99"/>
          <p:cNvSpPr txBox="1"/>
          <p:nvPr/>
        </p:nvSpPr>
        <p:spPr>
          <a:xfrm>
            <a:off x="812800" y="3771900"/>
            <a:ext cx="116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HOW</a:t>
            </a:r>
            <a:endParaRPr lang="en-US" sz="1200" dirty="0"/>
          </a:p>
        </p:txBody>
      </p:sp>
      <p:sp>
        <p:nvSpPr>
          <p:cNvPr id="25" name="text-100"/>
          <p:cNvSpPr txBox="1"/>
          <p:nvPr/>
        </p:nvSpPr>
        <p:spPr>
          <a:xfrm>
            <a:off x="2082800" y="37465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Wellness creators + Meta ads</a:t>
            </a:r>
            <a:endParaRPr lang="en-US" sz="1400" dirty="0"/>
          </a:p>
        </p:txBody>
      </p:sp>
      <p:sp>
        <p:nvSpPr>
          <p:cNvPr id="26" name="text-101"/>
          <p:cNvSpPr txBox="1"/>
          <p:nvPr/>
        </p:nvSpPr>
        <p:spPr>
          <a:xfrm>
            <a:off x="3962400" y="37465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Dentists &amp; hygienists</a:t>
            </a:r>
            <a:endParaRPr lang="en-US" sz="1400" dirty="0"/>
          </a:p>
        </p:txBody>
      </p:sp>
      <p:sp>
        <p:nvSpPr>
          <p:cNvPr id="27" name="text-102"/>
          <p:cNvSpPr txBox="1"/>
          <p:nvPr/>
        </p:nvSpPr>
        <p:spPr>
          <a:xfrm>
            <a:off x="5842000" y="37465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Dental samples + marathon expos</a:t>
            </a:r>
            <a:endParaRPr lang="en-US" sz="1400" dirty="0"/>
          </a:p>
        </p:txBody>
      </p:sp>
      <p:sp>
        <p:nvSpPr>
          <p:cNvPr id="28" name="text-103"/>
          <p:cNvSpPr txBox="1"/>
          <p:nvPr/>
        </p:nvSpPr>
        <p:spPr>
          <a:xfrm>
            <a:off x="7721600" y="37465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Retail links, coupons, shelf</a:t>
            </a:r>
            <a:endParaRPr lang="en-US" sz="1400" dirty="0"/>
          </a:p>
        </p:txBody>
      </p:sp>
      <p:sp>
        <p:nvSpPr>
          <p:cNvPr id="29" name="text-104"/>
          <p:cNvSpPr txBox="1"/>
          <p:nvPr/>
        </p:nvSpPr>
        <p:spPr>
          <a:xfrm>
            <a:off x="9601200" y="37465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Same creators + customer stories</a:t>
            </a:r>
            <a:endParaRPr lang="en-US" sz="1400" dirty="0"/>
          </a:p>
        </p:txBody>
      </p:sp>
      <p:sp>
        <p:nvSpPr>
          <p:cNvPr id="30" name="text-105"/>
          <p:cNvSpPr txBox="1"/>
          <p:nvPr/>
        </p:nvSpPr>
        <p:spPr>
          <a:xfrm>
            <a:off x="812800" y="4483100"/>
            <a:ext cx="116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OUTCOME</a:t>
            </a:r>
            <a:endParaRPr lang="en-US" sz="1200" dirty="0"/>
          </a:p>
        </p:txBody>
      </p:sp>
      <p:sp>
        <p:nvSpPr>
          <p:cNvPr id="31" name="text-106"/>
          <p:cNvSpPr txBox="1"/>
          <p:nvPr/>
        </p:nvSpPr>
        <p:spPr>
          <a:xfrm>
            <a:off x="2082800" y="44577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Relevance</a:t>
            </a:r>
            <a:endParaRPr lang="en-US" sz="1400" dirty="0"/>
          </a:p>
        </p:txBody>
      </p:sp>
      <p:sp>
        <p:nvSpPr>
          <p:cNvPr id="32" name="text-107"/>
          <p:cNvSpPr txBox="1"/>
          <p:nvPr/>
        </p:nvSpPr>
        <p:spPr>
          <a:xfrm>
            <a:off x="3962400" y="44577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Understanding</a:t>
            </a:r>
            <a:endParaRPr lang="en-US" sz="1400" dirty="0"/>
          </a:p>
        </p:txBody>
      </p:sp>
      <p:sp>
        <p:nvSpPr>
          <p:cNvPr id="33" name="text-108"/>
          <p:cNvSpPr txBox="1"/>
          <p:nvPr/>
        </p:nvSpPr>
        <p:spPr>
          <a:xfrm>
            <a:off x="5842000" y="44577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Trial</a:t>
            </a:r>
            <a:endParaRPr lang="en-US" sz="1400" dirty="0"/>
          </a:p>
        </p:txBody>
      </p:sp>
      <p:sp>
        <p:nvSpPr>
          <p:cNvPr id="34" name="text-109"/>
          <p:cNvSpPr txBox="1"/>
          <p:nvPr/>
        </p:nvSpPr>
        <p:spPr>
          <a:xfrm>
            <a:off x="7721600" y="44577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First purchase</a:t>
            </a:r>
            <a:endParaRPr lang="en-US" sz="1400" dirty="0"/>
          </a:p>
        </p:txBody>
      </p:sp>
      <p:sp>
        <p:nvSpPr>
          <p:cNvPr id="35" name="text-110"/>
          <p:cNvSpPr txBox="1"/>
          <p:nvPr/>
        </p:nvSpPr>
        <p:spPr>
          <a:xfrm>
            <a:off x="9601200" y="4457700"/>
            <a:ext cx="177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Repeat purchase</a:t>
            </a:r>
            <a:endParaRPr lang="en-US" sz="1400" dirty="0"/>
          </a:p>
        </p:txBody>
      </p:sp>
      <p:sp>
        <p:nvSpPr>
          <p:cNvPr id="36" name="shape-111"/>
          <p:cNvSpPr/>
          <p:nvPr/>
        </p:nvSpPr>
        <p:spPr>
          <a:xfrm>
            <a:off x="812800" y="5232400"/>
            <a:ext cx="10566400" cy="6350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</p:sp>
      <p:sp>
        <p:nvSpPr>
          <p:cNvPr id="37" name="text-112"/>
          <p:cNvSpPr txBox="1"/>
          <p:nvPr/>
        </p:nvSpPr>
        <p:spPr>
          <a:xfrm>
            <a:off x="1066800" y="5232400"/>
            <a:ext cx="4826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Each stage hands a measurable outcome to the next</a:t>
            </a:r>
            <a:endParaRPr lang="en-US" sz="1400" dirty="0"/>
          </a:p>
        </p:txBody>
      </p:sp>
      <p:sp>
        <p:nvSpPr>
          <p:cNvPr id="38" name="text-113"/>
          <p:cNvSpPr txBox="1"/>
          <p:nvPr/>
        </p:nvSpPr>
        <p:spPr>
          <a:xfrm>
            <a:off x="5892800" y="5232400"/>
            <a:ext cx="5232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Relevance → Understanding → Trial → First purchase → Repeat purchase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Connect</a:t>
            </a:r>
            <a:endParaRPr lang="en-US" sz="4000" dirty="0"/>
          </a:p>
        </p:txBody>
      </p:sp>
      <p:sp>
        <p:nvSpPr>
          <p:cNvPr id="3" name="shape-114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15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emotional relevance</a:t>
            </a:r>
            <a:endParaRPr lang="en-US" sz="1400" dirty="0"/>
          </a:p>
        </p:txBody>
      </p:sp>
      <p:sp>
        <p:nvSpPr>
          <p:cNvPr id="5" name="text-116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17" descr="Concept creator post: phone face down beside Crest MicroBiome on a bathroom counter, with a caption about taking the first two minu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01800"/>
            <a:ext cx="2159000" cy="4318000"/>
          </a:xfrm>
          <a:prstGeom prst="rect">
            <a:avLst/>
          </a:prstGeom>
        </p:spPr>
      </p:pic>
      <p:sp>
        <p:nvSpPr>
          <p:cNvPr id="7" name="icon-bg-118"/>
          <p:cNvSpPr/>
          <p:nvPr/>
        </p:nvSpPr>
        <p:spPr>
          <a:xfrm>
            <a:off x="3581400" y="18415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8" name="icon-11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0" y="1943100"/>
            <a:ext cx="254000" cy="254000"/>
          </a:xfrm>
          <a:prstGeom prst="rect">
            <a:avLst/>
          </a:prstGeom>
        </p:spPr>
      </p:pic>
      <p:sp>
        <p:nvSpPr>
          <p:cNvPr id="9" name="text-119"/>
          <p:cNvSpPr txBox="1"/>
          <p:nvPr/>
        </p:nvSpPr>
        <p:spPr>
          <a:xfrm>
            <a:off x="4216400" y="18669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Recurring wellness micro-influencers</a:t>
            </a:r>
            <a:endParaRPr lang="en-US" sz="2000" dirty="0"/>
          </a:p>
        </p:txBody>
      </p:sp>
      <p:sp>
        <p:nvSpPr>
          <p:cNvPr id="10" name="text-120"/>
          <p:cNvSpPr txBox="1"/>
          <p:nvPr/>
        </p:nvSpPr>
        <p:spPr>
          <a:xfrm>
            <a:off x="4216400" y="22352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same recognizable faces all year, sharing relatable morning routines.</a:t>
            </a:r>
            <a:endParaRPr lang="en-US" sz="1400" dirty="0"/>
          </a:p>
        </p:txBody>
      </p:sp>
      <p:sp>
        <p:nvSpPr>
          <p:cNvPr id="11" name="icon-bg-121"/>
          <p:cNvSpPr/>
          <p:nvPr/>
        </p:nvSpPr>
        <p:spPr>
          <a:xfrm>
            <a:off x="3581400" y="29337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2" name="icon-12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3035300"/>
            <a:ext cx="254000" cy="254000"/>
          </a:xfrm>
          <a:prstGeom prst="rect">
            <a:avLst/>
          </a:prstGeom>
        </p:spPr>
      </p:pic>
      <p:sp>
        <p:nvSpPr>
          <p:cNvPr id="13" name="text-122"/>
          <p:cNvSpPr txBox="1"/>
          <p:nvPr/>
        </p:nvSpPr>
        <p:spPr>
          <a:xfrm>
            <a:off x="4216400" y="29591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Their own words</a:t>
            </a:r>
            <a:endParaRPr lang="en-US" sz="2000" dirty="0"/>
          </a:p>
        </p:txBody>
      </p:sp>
      <p:sp>
        <p:nvSpPr>
          <p:cNvPr id="14" name="text-123"/>
          <p:cNvSpPr txBox="1"/>
          <p:nvPr/>
        </p:nvSpPr>
        <p:spPr>
          <a:xfrm>
            <a:off x="4216400" y="33274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Each creator shares what their first two minutes mean, without an identical script.</a:t>
            </a:r>
            <a:endParaRPr lang="en-US" sz="1400" dirty="0"/>
          </a:p>
        </p:txBody>
      </p:sp>
      <p:sp>
        <p:nvSpPr>
          <p:cNvPr id="15" name="icon-bg-124"/>
          <p:cNvSpPr/>
          <p:nvPr/>
        </p:nvSpPr>
        <p:spPr>
          <a:xfrm>
            <a:off x="3581400" y="40259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icon-12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3000" y="4127500"/>
            <a:ext cx="254000" cy="254000"/>
          </a:xfrm>
          <a:prstGeom prst="rect">
            <a:avLst/>
          </a:prstGeom>
        </p:spPr>
      </p:pic>
      <p:sp>
        <p:nvSpPr>
          <p:cNvPr id="17" name="text-125"/>
          <p:cNvSpPr txBox="1"/>
          <p:nvPr/>
        </p:nvSpPr>
        <p:spPr>
          <a:xfrm>
            <a:off x="4216400" y="40513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Meta ads amplify what works</a:t>
            </a:r>
            <a:endParaRPr lang="en-US" sz="2000" dirty="0"/>
          </a:p>
        </p:txBody>
      </p:sp>
      <p:sp>
        <p:nvSpPr>
          <p:cNvPr id="18" name="text-126"/>
          <p:cNvSpPr txBox="1"/>
          <p:nvPr/>
        </p:nvSpPr>
        <p:spPr>
          <a:xfrm>
            <a:off x="4216400" y="44196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Paid media boosts the best-performing creator posts to our 25–45 wellness audience.</a:t>
            </a:r>
            <a:endParaRPr lang="en-US" sz="1400" dirty="0"/>
          </a:p>
        </p:txBody>
      </p:sp>
      <p:sp>
        <p:nvSpPr>
          <p:cNvPr id="19" name="pill-127"/>
          <p:cNvSpPr/>
          <p:nvPr/>
        </p:nvSpPr>
        <p:spPr>
          <a:xfrm>
            <a:off x="3581400" y="52451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0" name="text-128"/>
          <p:cNvSpPr txBox="1"/>
          <p:nvPr/>
        </p:nvSpPr>
        <p:spPr>
          <a:xfrm>
            <a:off x="5778500" y="5194300"/>
            <a:ext cx="5600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Concept post. Crest MicroBiome is always in frame, so the emotion stays tied to the product.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Connect</a:t>
            </a:r>
            <a:endParaRPr lang="en-US" sz="4000" dirty="0"/>
          </a:p>
        </p:txBody>
      </p:sp>
      <p:sp>
        <p:nvSpPr>
          <p:cNvPr id="3" name="shape-129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30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emotional relevance</a:t>
            </a:r>
            <a:endParaRPr lang="en-US" sz="1400" dirty="0"/>
          </a:p>
        </p:txBody>
      </p:sp>
      <p:sp>
        <p:nvSpPr>
          <p:cNvPr id="5" name="text-131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32"/>
          <p:cNvSpPr txBox="1"/>
          <p:nvPr/>
        </p:nvSpPr>
        <p:spPr>
          <a:xfrm>
            <a:off x="812800" y="1651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ONE RECOGNIZABLE CREATOR FORMAT</a:t>
            </a:r>
            <a:endParaRPr lang="en-US" sz="1200" dirty="0"/>
          </a:p>
        </p:txBody>
      </p:sp>
      <p:pic>
        <p:nvPicPr>
          <p:cNvPr id="7" name="image-133" descr="Phone lying face down on a bathroom counter while message bubbles wa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81200"/>
            <a:ext cx="2489200" cy="1866900"/>
          </a:xfrm>
          <a:prstGeom prst="rect">
            <a:avLst/>
          </a:prstGeom>
        </p:spPr>
      </p:pic>
      <p:sp>
        <p:nvSpPr>
          <p:cNvPr id="8" name="shape-134"/>
          <p:cNvSpPr/>
          <p:nvPr/>
        </p:nvSpPr>
        <p:spPr>
          <a:xfrm>
            <a:off x="8128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135"/>
          <p:cNvSpPr txBox="1"/>
          <p:nvPr/>
        </p:nvSpPr>
        <p:spPr>
          <a:xfrm>
            <a:off x="8128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Phone face down</a:t>
            </a:r>
            <a:endParaRPr lang="en-US" sz="2000" dirty="0"/>
          </a:p>
        </p:txBody>
      </p:sp>
      <p:sp>
        <p:nvSpPr>
          <p:cNvPr id="10" name="text-136"/>
          <p:cNvSpPr txBox="1"/>
          <p:nvPr/>
        </p:nvSpPr>
        <p:spPr>
          <a:xfrm>
            <a:off x="8128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Messages can wait two minutes.</a:t>
            </a:r>
            <a:endParaRPr lang="en-US" sz="1400" dirty="0"/>
          </a:p>
        </p:txBody>
      </p:sp>
      <p:pic>
        <p:nvPicPr>
          <p:cNvPr id="11" name="image-137" descr="Crest MicroBiome tube on the counter beside a toothbrush cup and pl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200" y="1981200"/>
            <a:ext cx="2489200" cy="1866900"/>
          </a:xfrm>
          <a:prstGeom prst="rect">
            <a:avLst/>
          </a:prstGeom>
        </p:spPr>
      </p:pic>
      <p:sp>
        <p:nvSpPr>
          <p:cNvPr id="12" name="shape-138"/>
          <p:cNvSpPr/>
          <p:nvPr/>
        </p:nvSpPr>
        <p:spPr>
          <a:xfrm>
            <a:off x="35052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139"/>
          <p:cNvSpPr txBox="1"/>
          <p:nvPr/>
        </p:nvSpPr>
        <p:spPr>
          <a:xfrm>
            <a:off x="35052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Crest MicroBiome in view</a:t>
            </a:r>
            <a:endParaRPr lang="en-US" sz="2000" dirty="0"/>
          </a:p>
        </p:txBody>
      </p:sp>
      <p:sp>
        <p:nvSpPr>
          <p:cNvPr id="14" name="text-140"/>
          <p:cNvSpPr txBox="1"/>
          <p:nvPr/>
        </p:nvSpPr>
        <p:spPr>
          <a:xfrm>
            <a:off x="35052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product is always in frame.</a:t>
            </a:r>
            <a:endParaRPr lang="en-US" sz="1400" dirty="0"/>
          </a:p>
        </p:txBody>
      </p:sp>
      <p:pic>
        <p:nvPicPr>
          <p:cNvPr id="15" name="image-141" descr="A two-minute timer ring labelled for you, beside the toothbrush and tu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981200"/>
            <a:ext cx="2489200" cy="1866900"/>
          </a:xfrm>
          <a:prstGeom prst="rect">
            <a:avLst/>
          </a:prstGeom>
        </p:spPr>
      </p:pic>
      <p:sp>
        <p:nvSpPr>
          <p:cNvPr id="16" name="shape-142"/>
          <p:cNvSpPr/>
          <p:nvPr/>
        </p:nvSpPr>
        <p:spPr>
          <a:xfrm>
            <a:off x="61976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143"/>
          <p:cNvSpPr txBox="1"/>
          <p:nvPr/>
        </p:nvSpPr>
        <p:spPr>
          <a:xfrm>
            <a:off x="61976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Brushing as self-care</a:t>
            </a:r>
            <a:endParaRPr lang="en-US" sz="2000" dirty="0"/>
          </a:p>
        </p:txBody>
      </p:sp>
      <p:sp>
        <p:nvSpPr>
          <p:cNvPr id="18" name="text-144"/>
          <p:cNvSpPr txBox="1"/>
          <p:nvPr/>
        </p:nvSpPr>
        <p:spPr>
          <a:xfrm>
            <a:off x="61976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Two calm minutes, just for you.</a:t>
            </a:r>
            <a:endParaRPr lang="en-US" sz="1400" dirty="0"/>
          </a:p>
        </p:txBody>
      </p:sp>
      <p:pic>
        <p:nvPicPr>
          <p:cNvPr id="19" name="image-145" descr="Creator avatar with a speech bubb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0" y="1981200"/>
            <a:ext cx="2489200" cy="1866900"/>
          </a:xfrm>
          <a:prstGeom prst="rect">
            <a:avLst/>
          </a:prstGeom>
        </p:spPr>
      </p:pic>
      <p:sp>
        <p:nvSpPr>
          <p:cNvPr id="20" name="shape-146"/>
          <p:cNvSpPr/>
          <p:nvPr/>
        </p:nvSpPr>
        <p:spPr>
          <a:xfrm>
            <a:off x="88900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-147"/>
          <p:cNvSpPr txBox="1"/>
          <p:nvPr/>
        </p:nvSpPr>
        <p:spPr>
          <a:xfrm>
            <a:off x="88900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A personal story</a:t>
            </a:r>
            <a:endParaRPr lang="en-US" sz="2000" dirty="0"/>
          </a:p>
        </p:txBody>
      </p:sp>
      <p:sp>
        <p:nvSpPr>
          <p:cNvPr id="22" name="text-148"/>
          <p:cNvSpPr txBox="1"/>
          <p:nvPr/>
        </p:nvSpPr>
        <p:spPr>
          <a:xfrm>
            <a:off x="88900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Why these two minutes matter to them.</a:t>
            </a:r>
            <a:endParaRPr lang="en-US" sz="1400" dirty="0"/>
          </a:p>
        </p:txBody>
      </p:sp>
      <p:sp>
        <p:nvSpPr>
          <p:cNvPr id="23" name="pill-149"/>
          <p:cNvSpPr/>
          <p:nvPr/>
        </p:nvSpPr>
        <p:spPr>
          <a:xfrm>
            <a:off x="812800" y="55372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4" name="text-150"/>
          <p:cNvSpPr txBox="1"/>
          <p:nvPr/>
        </p:nvSpPr>
        <p:spPr>
          <a:xfrm>
            <a:off x="3009900" y="5499100"/>
            <a:ext cx="88900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Meta ads amplify the posts that perform best. Creator links lead to participating retailers.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Reveal</a:t>
            </a:r>
            <a:endParaRPr lang="en-US" sz="4000" dirty="0"/>
          </a:p>
        </p:txBody>
      </p:sp>
      <p:sp>
        <p:nvSpPr>
          <p:cNvPr id="3" name="shape-151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52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Explain the product difference</a:t>
            </a:r>
            <a:endParaRPr lang="en-US" sz="1400" dirty="0"/>
          </a:p>
        </p:txBody>
      </p:sp>
      <p:sp>
        <p:nvSpPr>
          <p:cNvPr id="5" name="text-153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54"/>
          <p:cNvSpPr txBox="1"/>
          <p:nvPr/>
        </p:nvSpPr>
        <p:spPr>
          <a:xfrm>
            <a:off x="812800" y="1778000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KEY MESSAGE FROM DENTISTS AND HYGIENISTS</a:t>
            </a:r>
            <a:endParaRPr lang="en-US" sz="1200" dirty="0"/>
          </a:p>
        </p:txBody>
      </p:sp>
      <p:sp>
        <p:nvSpPr>
          <p:cNvPr id="7" name="text-155"/>
          <p:cNvSpPr txBox="1"/>
          <p:nvPr/>
        </p:nvSpPr>
        <p:spPr>
          <a:xfrm>
            <a:off x="812800" y="2095500"/>
            <a:ext cx="495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“Cavity protection, plus care for the helpful bacteria already in your mouth.”</a:t>
            </a:r>
            <a:endParaRPr lang="en-US" sz="2800" dirty="0"/>
          </a:p>
        </p:txBody>
      </p:sp>
      <p:sp>
        <p:nvSpPr>
          <p:cNvPr id="8" name="icon-bg-156"/>
          <p:cNvSpPr/>
          <p:nvPr/>
        </p:nvSpPr>
        <p:spPr>
          <a:xfrm>
            <a:off x="812800" y="3746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9" name="icon-1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175" y="3825875"/>
            <a:ext cx="196850" cy="196850"/>
          </a:xfrm>
          <a:prstGeom prst="rect">
            <a:avLst/>
          </a:prstGeom>
        </p:spPr>
      </p:pic>
      <p:sp>
        <p:nvSpPr>
          <p:cNvPr id="10" name="text-157"/>
          <p:cNvSpPr txBox="1"/>
          <p:nvPr/>
        </p:nvSpPr>
        <p:spPr>
          <a:xfrm>
            <a:off x="1295400" y="3746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 language from trusted professionals</a:t>
            </a:r>
            <a:endParaRPr lang="en-US" sz="1400" dirty="0"/>
          </a:p>
        </p:txBody>
      </p:sp>
      <p:sp>
        <p:nvSpPr>
          <p:cNvPr id="11" name="icon-bg-158"/>
          <p:cNvSpPr/>
          <p:nvPr/>
        </p:nvSpPr>
        <p:spPr>
          <a:xfrm>
            <a:off x="812800" y="4254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con-15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175" y="4333875"/>
            <a:ext cx="196850" cy="196850"/>
          </a:xfrm>
          <a:prstGeom prst="rect">
            <a:avLst/>
          </a:prstGeom>
        </p:spPr>
      </p:pic>
      <p:sp>
        <p:nvSpPr>
          <p:cNvPr id="13" name="text-159"/>
          <p:cNvSpPr txBox="1"/>
          <p:nvPr/>
        </p:nvSpPr>
        <p:spPr>
          <a:xfrm>
            <a:off x="1295400" y="4254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Evidence and accurate materials for clinics</a:t>
            </a:r>
            <a:endParaRPr lang="en-US" sz="1400" dirty="0"/>
          </a:p>
        </p:txBody>
      </p:sp>
      <p:sp>
        <p:nvSpPr>
          <p:cNvPr id="14" name="icon-bg-160"/>
          <p:cNvSpPr/>
          <p:nvPr/>
        </p:nvSpPr>
        <p:spPr>
          <a:xfrm>
            <a:off x="812800" y="4762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con-16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175" y="4841875"/>
            <a:ext cx="196850" cy="196850"/>
          </a:xfrm>
          <a:prstGeom prst="rect">
            <a:avLst/>
          </a:prstGeom>
        </p:spPr>
      </p:pic>
      <p:sp>
        <p:nvSpPr>
          <p:cNvPr id="16" name="text-161"/>
          <p:cNvSpPr txBox="1"/>
          <p:nvPr/>
        </p:nvSpPr>
        <p:spPr>
          <a:xfrm>
            <a:off x="1295400" y="4762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Professionals decide whether to recommend it</a:t>
            </a:r>
            <a:endParaRPr lang="en-US" sz="1400" dirty="0"/>
          </a:p>
        </p:txBody>
      </p:sp>
      <p:sp>
        <p:nvSpPr>
          <p:cNvPr id="17" name="pill-162"/>
          <p:cNvSpPr/>
          <p:nvPr/>
        </p:nvSpPr>
        <p:spPr>
          <a:xfrm>
            <a:off x="812800" y="53975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pic>
        <p:nvPicPr>
          <p:cNvPr id="18" name="image-163" descr="Two overlapping circles: a protected tooth and a calm cluster of helpful bacteria, with Crest MicroBiome in the overl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871" y="1841500"/>
            <a:ext cx="4822658" cy="3054350"/>
          </a:xfrm>
          <a:prstGeom prst="rect">
            <a:avLst/>
          </a:prstGeom>
        </p:spPr>
      </p:pic>
      <p:sp>
        <p:nvSpPr>
          <p:cNvPr id="19" name="text-164"/>
          <p:cNvSpPr txBox="1"/>
          <p:nvPr/>
        </p:nvSpPr>
        <p:spPr>
          <a:xfrm>
            <a:off x="6299200" y="4965700"/>
            <a:ext cx="228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Cavity protection</a:t>
            </a:r>
            <a:endParaRPr lang="en-US" sz="1400" dirty="0"/>
          </a:p>
        </p:txBody>
      </p:sp>
      <p:sp>
        <p:nvSpPr>
          <p:cNvPr id="20" name="text-165"/>
          <p:cNvSpPr txBox="1"/>
          <p:nvPr/>
        </p:nvSpPr>
        <p:spPr>
          <a:xfrm>
            <a:off x="8534400" y="49657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Care for helpful bacteria</a:t>
            </a:r>
            <a:endParaRPr lang="en-US" sz="1400" dirty="0"/>
          </a:p>
        </p:txBody>
      </p:sp>
      <p:sp>
        <p:nvSpPr>
          <p:cNvPr id="21" name="text-166"/>
          <p:cNvSpPr txBox="1"/>
          <p:nvPr/>
        </p:nvSpPr>
        <p:spPr>
          <a:xfrm>
            <a:off x="6045200" y="5334000"/>
            <a:ext cx="533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 simple balance visual, with no frightening germ imagery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67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68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69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70" descr="Dental take-home pouch with toothbrush and Crest MicroBiome sample, patient card and first-tube coup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05" y="1905000"/>
            <a:ext cx="5076190" cy="3625850"/>
          </a:xfrm>
          <a:prstGeom prst="rect">
            <a:avLst/>
          </a:prstGeom>
        </p:spPr>
      </p:pic>
      <p:sp>
        <p:nvSpPr>
          <p:cNvPr id="7" name="text-171"/>
          <p:cNvSpPr txBox="1"/>
          <p:nvPr/>
        </p:nvSpPr>
        <p:spPr>
          <a:xfrm>
            <a:off x="6299200" y="18415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DENTAL SAMPLING · CORE TRIAL CHANNEL</a:t>
            </a:r>
            <a:endParaRPr lang="en-US" sz="1200" dirty="0"/>
          </a:p>
        </p:txBody>
      </p:sp>
      <p:sp>
        <p:nvSpPr>
          <p:cNvPr id="8" name="text-172"/>
          <p:cNvSpPr txBox="1"/>
          <p:nvPr/>
        </p:nvSpPr>
        <p:spPr>
          <a:xfrm>
            <a:off x="6299200" y="2146300"/>
            <a:ext cx="508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Free starter kits for a 50–100-clinic pilot in launch markets</a:t>
            </a:r>
            <a:endParaRPr lang="en-US" sz="2000" dirty="0"/>
          </a:p>
        </p:txBody>
      </p:sp>
      <p:sp>
        <p:nvSpPr>
          <p:cNvPr id="9" name="text-173"/>
          <p:cNvSpPr txBox="1"/>
          <p:nvPr/>
        </p:nvSpPr>
        <p:spPr>
          <a:xfrm>
            <a:off x="6299200" y="2959100"/>
            <a:ext cx="5080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Sealed toothpaste samples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Simple patient education cards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Clinic-specific QR codes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Trackable retailer coupons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 short professional product briefing</a:t>
            </a:r>
            <a:endParaRPr lang="en-US" sz="1400" dirty="0"/>
          </a:p>
        </p:txBody>
      </p:sp>
      <p:sp>
        <p:nvSpPr>
          <p:cNvPr id="10" name="text-174"/>
          <p:cNvSpPr txBox="1"/>
          <p:nvPr/>
        </p:nvSpPr>
        <p:spPr>
          <a:xfrm>
            <a:off x="6299200" y="4635500"/>
            <a:ext cx="508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Samples and materials are free. No payment per recommendation.</a:t>
            </a:r>
            <a:endParaRPr lang="en-US" sz="1200" dirty="0"/>
          </a:p>
        </p:txBody>
      </p:sp>
      <p:sp>
        <p:nvSpPr>
          <p:cNvPr id="11" name="pill-175"/>
          <p:cNvSpPr/>
          <p:nvPr/>
        </p:nvSpPr>
        <p:spPr>
          <a:xfrm>
            <a:off x="6299200" y="51689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76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77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78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79" descr="Patient card front reading Your first two minutes start here, and back explaining helpful bacteria with a QR code and clinic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1000" y="1702666"/>
            <a:ext cx="8890000" cy="3636818"/>
          </a:xfrm>
          <a:prstGeom prst="rect">
            <a:avLst/>
          </a:prstGeom>
        </p:spPr>
      </p:pic>
      <p:sp>
        <p:nvSpPr>
          <p:cNvPr id="7" name="pill-180"/>
          <p:cNvSpPr/>
          <p:nvPr/>
        </p:nvSpPr>
        <p:spPr>
          <a:xfrm>
            <a:off x="1371600" y="556260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PATIENT CARD CONCEPT</a:t>
            </a:r>
            <a:endParaRPr lang="en-US" sz="1200" dirty="0"/>
          </a:p>
        </p:txBody>
      </p:sp>
      <p:sp>
        <p:nvSpPr>
          <p:cNvPr id="8" name="text-181"/>
          <p:cNvSpPr txBox="1"/>
          <p:nvPr/>
        </p:nvSpPr>
        <p:spPr>
          <a:xfrm>
            <a:off x="4152900" y="5524500"/>
            <a:ext cx="82550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Plain-language benefit, twice-daily reminder, clinic QR code and first-tube offer.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82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83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84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85"/>
          <p:cNvSpPr txBox="1"/>
          <p:nvPr/>
        </p:nvSpPr>
        <p:spPr>
          <a:xfrm>
            <a:off x="812800" y="16002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HOW THE CLINIC PILOT WORKS</a:t>
            </a:r>
            <a:endParaRPr lang="en-US" sz="1200" dirty="0"/>
          </a:p>
        </p:txBody>
      </p:sp>
      <p:sp>
        <p:nvSpPr>
          <p:cNvPr id="7" name="shape-186"/>
          <p:cNvSpPr/>
          <p:nvPr/>
        </p:nvSpPr>
        <p:spPr>
          <a:xfrm>
            <a:off x="8128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187"/>
          <p:cNvSpPr txBox="1"/>
          <p:nvPr/>
        </p:nvSpPr>
        <p:spPr>
          <a:xfrm>
            <a:off x="9652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1 · Recruit</a:t>
            </a:r>
            <a:endParaRPr lang="en-US" sz="1400" dirty="0"/>
          </a:p>
        </p:txBody>
      </p:sp>
      <p:sp>
        <p:nvSpPr>
          <p:cNvPr id="9" name="text-188"/>
          <p:cNvSpPr txBox="1"/>
          <p:nvPr/>
        </p:nvSpPr>
        <p:spPr>
          <a:xfrm>
            <a:off x="9652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Clinics that reach 25–45s and will report stock</a:t>
            </a:r>
            <a:endParaRPr lang="en-US" sz="1200" dirty="0"/>
          </a:p>
        </p:txBody>
      </p:sp>
      <p:sp>
        <p:nvSpPr>
          <p:cNvPr id="10" name="arrow-0"/>
          <p:cNvSpPr/>
          <p:nvPr/>
        </p:nvSpPr>
        <p:spPr>
          <a:xfrm>
            <a:off x="27178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1" name="shape-189"/>
          <p:cNvSpPr/>
          <p:nvPr/>
        </p:nvSpPr>
        <p:spPr>
          <a:xfrm>
            <a:off x="29972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-190"/>
          <p:cNvSpPr txBox="1"/>
          <p:nvPr/>
        </p:nvSpPr>
        <p:spPr>
          <a:xfrm>
            <a:off x="31496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2 · Brief</a:t>
            </a:r>
            <a:endParaRPr lang="en-US" sz="1400" dirty="0"/>
          </a:p>
        </p:txBody>
      </p:sp>
      <p:sp>
        <p:nvSpPr>
          <p:cNvPr id="13" name="text-191"/>
          <p:cNvSpPr txBox="1"/>
          <p:nvPr/>
        </p:nvSpPr>
        <p:spPr>
          <a:xfrm>
            <a:off x="31496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Short product briefing for the clinic team</a:t>
            </a:r>
            <a:endParaRPr lang="en-US" sz="1200" dirty="0"/>
          </a:p>
        </p:txBody>
      </p:sp>
      <p:sp>
        <p:nvSpPr>
          <p:cNvPr id="14" name="arrow-1"/>
          <p:cNvSpPr/>
          <p:nvPr/>
        </p:nvSpPr>
        <p:spPr>
          <a:xfrm>
            <a:off x="49022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5" name="shape-192"/>
          <p:cNvSpPr/>
          <p:nvPr/>
        </p:nvSpPr>
        <p:spPr>
          <a:xfrm>
            <a:off x="51816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-193"/>
          <p:cNvSpPr txBox="1"/>
          <p:nvPr/>
        </p:nvSpPr>
        <p:spPr>
          <a:xfrm>
            <a:off x="53340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3 · Hand out</a:t>
            </a:r>
            <a:endParaRPr lang="en-US" sz="1400" dirty="0"/>
          </a:p>
        </p:txBody>
      </p:sp>
      <p:sp>
        <p:nvSpPr>
          <p:cNvPr id="17" name="text-194"/>
          <p:cNvSpPr txBox="1"/>
          <p:nvPr/>
        </p:nvSpPr>
        <p:spPr>
          <a:xfrm>
            <a:off x="53340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Brief explanation if appropriate; sample in the take-home bag</a:t>
            </a:r>
            <a:endParaRPr lang="en-US" sz="1200" dirty="0"/>
          </a:p>
        </p:txBody>
      </p:sp>
      <p:sp>
        <p:nvSpPr>
          <p:cNvPr id="18" name="arrow-2"/>
          <p:cNvSpPr/>
          <p:nvPr/>
        </p:nvSpPr>
        <p:spPr>
          <a:xfrm>
            <a:off x="70866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9" name="shape-195"/>
          <p:cNvSpPr/>
          <p:nvPr/>
        </p:nvSpPr>
        <p:spPr>
          <a:xfrm>
            <a:off x="73660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196"/>
          <p:cNvSpPr txBox="1"/>
          <p:nvPr/>
        </p:nvSpPr>
        <p:spPr>
          <a:xfrm>
            <a:off x="75184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4 · Track</a:t>
            </a:r>
            <a:endParaRPr lang="en-US" sz="1400" dirty="0"/>
          </a:p>
        </p:txBody>
      </p:sp>
      <p:sp>
        <p:nvSpPr>
          <p:cNvPr id="21" name="text-197"/>
          <p:cNvSpPr txBox="1"/>
          <p:nvPr/>
        </p:nvSpPr>
        <p:spPr>
          <a:xfrm>
            <a:off x="75184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Stock reports, QR visits and coupon purchases</a:t>
            </a:r>
            <a:endParaRPr lang="en-US" sz="1200" dirty="0"/>
          </a:p>
        </p:txBody>
      </p:sp>
      <p:sp>
        <p:nvSpPr>
          <p:cNvPr id="22" name="arrow-3"/>
          <p:cNvSpPr/>
          <p:nvPr/>
        </p:nvSpPr>
        <p:spPr>
          <a:xfrm>
            <a:off x="92710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3" name="shape-198"/>
          <p:cNvSpPr/>
          <p:nvPr/>
        </p:nvSpPr>
        <p:spPr>
          <a:xfrm>
            <a:off x="95504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-199"/>
          <p:cNvSpPr txBox="1"/>
          <p:nvPr/>
        </p:nvSpPr>
        <p:spPr>
          <a:xfrm>
            <a:off x="97028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5 · Replenish</a:t>
            </a:r>
            <a:endParaRPr lang="en-US" sz="1400" dirty="0"/>
          </a:p>
        </p:txBody>
      </p:sp>
      <p:sp>
        <p:nvSpPr>
          <p:cNvPr id="25" name="text-200"/>
          <p:cNvSpPr txBox="1"/>
          <p:nvPr/>
        </p:nvSpPr>
        <p:spPr>
          <a:xfrm>
            <a:off x="97028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Restock by actual distribution; expand on results</a:t>
            </a:r>
            <a:endParaRPr lang="en-US" sz="1200" dirty="0"/>
          </a:p>
        </p:txBody>
      </p:sp>
      <p:sp>
        <p:nvSpPr>
          <p:cNvPr id="26" name="shape-201"/>
          <p:cNvSpPr/>
          <p:nvPr/>
        </p:nvSpPr>
        <p:spPr>
          <a:xfrm>
            <a:off x="812800" y="3568700"/>
            <a:ext cx="5181600" cy="247650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-202"/>
          <p:cNvSpPr txBox="1"/>
          <p:nvPr/>
        </p:nvSpPr>
        <p:spPr>
          <a:xfrm>
            <a:off x="1016000" y="37719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PILOT TEST</a:t>
            </a:r>
            <a:endParaRPr lang="en-US" sz="1200" dirty="0"/>
          </a:p>
        </p:txBody>
      </p:sp>
      <p:sp>
        <p:nvSpPr>
          <p:cNvPr id="28" name="shape-203"/>
          <p:cNvSpPr/>
          <p:nvPr/>
        </p:nvSpPr>
        <p:spPr>
          <a:xfrm>
            <a:off x="1016000" y="4140200"/>
            <a:ext cx="2095500" cy="76200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29" name="text-204"/>
          <p:cNvSpPr txBox="1"/>
          <p:nvPr/>
        </p:nvSpPr>
        <p:spPr>
          <a:xfrm>
            <a:off x="1168400" y="4140200"/>
            <a:ext cx="1841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Sample only</a:t>
            </a:r>
            <a:endParaRPr lang="en-US" sz="1400" dirty="0"/>
          </a:p>
        </p:txBody>
      </p:sp>
      <p:sp>
        <p:nvSpPr>
          <p:cNvPr id="30" name="text-205"/>
          <p:cNvSpPr txBox="1"/>
          <p:nvPr/>
        </p:nvSpPr>
        <p:spPr>
          <a:xfrm>
            <a:off x="3175000" y="4140200"/>
            <a:ext cx="381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vs</a:t>
            </a:r>
            <a:endParaRPr lang="en-US" sz="1400" dirty="0"/>
          </a:p>
        </p:txBody>
      </p:sp>
      <p:sp>
        <p:nvSpPr>
          <p:cNvPr id="31" name="shape-206"/>
          <p:cNvSpPr/>
          <p:nvPr/>
        </p:nvSpPr>
        <p:spPr>
          <a:xfrm>
            <a:off x="3619500" y="4140200"/>
            <a:ext cx="2171700" cy="76200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32" name="text-207"/>
          <p:cNvSpPr txBox="1"/>
          <p:nvPr/>
        </p:nvSpPr>
        <p:spPr>
          <a:xfrm>
            <a:off x="3771900" y="414020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Sample + brief explanation</a:t>
            </a:r>
            <a:endParaRPr lang="en-US" sz="1400" dirty="0"/>
          </a:p>
        </p:txBody>
      </p:sp>
      <p:sp>
        <p:nvSpPr>
          <p:cNvPr id="33" name="text-208"/>
          <p:cNvSpPr txBox="1"/>
          <p:nvPr/>
        </p:nvSpPr>
        <p:spPr>
          <a:xfrm>
            <a:off x="1016000" y="5080000"/>
            <a:ext cx="477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Compare understanding, purchases and cost per buyer before expanding.</a:t>
            </a:r>
            <a:endParaRPr lang="en-US" sz="1200" dirty="0"/>
          </a:p>
        </p:txBody>
      </p:sp>
      <p:sp>
        <p:nvSpPr>
          <p:cNvPr id="34" name="shape-209"/>
          <p:cNvSpPr/>
          <p:nvPr/>
        </p:nvSpPr>
        <p:spPr>
          <a:xfrm>
            <a:off x="6197600" y="3568700"/>
            <a:ext cx="5181600" cy="247650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-210"/>
          <p:cNvSpPr txBox="1"/>
          <p:nvPr/>
        </p:nvSpPr>
        <p:spPr>
          <a:xfrm>
            <a:off x="6400800" y="37719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FOUR SEPARATE MEASURES</a:t>
            </a:r>
            <a:endParaRPr lang="en-US" sz="1200" dirty="0"/>
          </a:p>
        </p:txBody>
      </p:sp>
      <p:sp>
        <p:nvSpPr>
          <p:cNvPr id="36" name="shape-211"/>
          <p:cNvSpPr/>
          <p:nvPr/>
        </p:nvSpPr>
        <p:spPr>
          <a:xfrm>
            <a:off x="6400800" y="4076700"/>
            <a:ext cx="4775200" cy="292100"/>
          </a:xfrm>
          <a:prstGeom prst="roundRect">
            <a:avLst>
              <a:gd name="adj" fmla="val 21739"/>
            </a:avLst>
          </a:prstGeom>
          <a:solidFill>
            <a:schemeClr val="tx1"/>
          </a:solidFill>
          <a:ln/>
        </p:spPr>
      </p:sp>
      <p:sp>
        <p:nvSpPr>
          <p:cNvPr id="37" name="text-212"/>
          <p:cNvSpPr txBox="1"/>
          <p:nvPr/>
        </p:nvSpPr>
        <p:spPr>
          <a:xfrm>
            <a:off x="6527800" y="4076700"/>
            <a:ext cx="4521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Samples delivered</a:t>
            </a:r>
            <a:endParaRPr lang="en-US" sz="1200" dirty="0"/>
          </a:p>
        </p:txBody>
      </p:sp>
      <p:sp>
        <p:nvSpPr>
          <p:cNvPr id="38" name="shape-213"/>
          <p:cNvSpPr/>
          <p:nvPr/>
        </p:nvSpPr>
        <p:spPr>
          <a:xfrm>
            <a:off x="6400800" y="4432300"/>
            <a:ext cx="4203700" cy="292100"/>
          </a:xfrm>
          <a:prstGeom prst="roundRect">
            <a:avLst>
              <a:gd name="adj" fmla="val 21739"/>
            </a:avLst>
          </a:prstGeom>
          <a:solidFill>
            <a:srgbClr val="163A8A"/>
          </a:solidFill>
          <a:ln/>
        </p:spPr>
      </p:sp>
      <p:sp>
        <p:nvSpPr>
          <p:cNvPr id="39" name="text-214"/>
          <p:cNvSpPr txBox="1"/>
          <p:nvPr/>
        </p:nvSpPr>
        <p:spPr>
          <a:xfrm>
            <a:off x="6527800" y="4432300"/>
            <a:ext cx="3949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Samples handed out (stock reports)</a:t>
            </a:r>
            <a:endParaRPr lang="en-US" sz="1200" dirty="0"/>
          </a:p>
        </p:txBody>
      </p:sp>
      <p:sp>
        <p:nvSpPr>
          <p:cNvPr id="40" name="shape-215"/>
          <p:cNvSpPr/>
          <p:nvPr/>
        </p:nvSpPr>
        <p:spPr>
          <a:xfrm>
            <a:off x="6400800" y="4787900"/>
            <a:ext cx="3632200" cy="292100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41" name="text-216"/>
          <p:cNvSpPr txBox="1"/>
          <p:nvPr/>
        </p:nvSpPr>
        <p:spPr>
          <a:xfrm>
            <a:off x="6527800" y="4787900"/>
            <a:ext cx="3378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QR visits</a:t>
            </a:r>
            <a:endParaRPr lang="en-US" sz="1200" dirty="0"/>
          </a:p>
        </p:txBody>
      </p:sp>
      <p:sp>
        <p:nvSpPr>
          <p:cNvPr id="42" name="shape-217"/>
          <p:cNvSpPr/>
          <p:nvPr/>
        </p:nvSpPr>
        <p:spPr>
          <a:xfrm>
            <a:off x="6400800" y="5143500"/>
            <a:ext cx="3054350" cy="292100"/>
          </a:xfrm>
          <a:prstGeom prst="roundRect">
            <a:avLst>
              <a:gd name="adj" fmla="val 21739"/>
            </a:avLst>
          </a:prstGeom>
          <a:solidFill>
            <a:schemeClr val="accent3"/>
          </a:solidFill>
          <a:ln/>
        </p:spPr>
      </p:sp>
      <p:sp>
        <p:nvSpPr>
          <p:cNvPr id="43" name="text-218"/>
          <p:cNvSpPr txBox="1"/>
          <p:nvPr/>
        </p:nvSpPr>
        <p:spPr>
          <a:xfrm>
            <a:off x="6527800" y="5143500"/>
            <a:ext cx="28003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Coupon purchases</a:t>
            </a:r>
            <a:endParaRPr lang="en-US" sz="1200" dirty="0"/>
          </a:p>
        </p:txBody>
      </p:sp>
      <p:sp>
        <p:nvSpPr>
          <p:cNvPr id="44" name="text-219"/>
          <p:cNvSpPr txBox="1"/>
          <p:nvPr/>
        </p:nvSpPr>
        <p:spPr>
          <a:xfrm>
            <a:off x="6400800" y="5549900"/>
            <a:ext cx="4775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 scan is not a purchase; a handed-out sample may go unused.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220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21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222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223" descr="Expo booth concept: navy wall reading The first two minutes are yours, a sample counter, a free-sample tower with QR code and a photo sp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06058"/>
            <a:ext cx="6096000" cy="3725333"/>
          </a:xfrm>
          <a:prstGeom prst="rect">
            <a:avLst/>
          </a:prstGeom>
        </p:spPr>
      </p:pic>
      <p:sp>
        <p:nvSpPr>
          <p:cNvPr id="7" name="text-224"/>
          <p:cNvSpPr txBox="1"/>
          <p:nvPr/>
        </p:nvSpPr>
        <p:spPr>
          <a:xfrm>
            <a:off x="7264400" y="1803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MARATHON EXPOS · BIB PICKUP</a:t>
            </a:r>
            <a:endParaRPr lang="en-US" sz="1200" dirty="0"/>
          </a:p>
        </p:txBody>
      </p:sp>
      <p:sp>
        <p:nvSpPr>
          <p:cNvPr id="8" name="text-225"/>
          <p:cNvSpPr txBox="1"/>
          <p:nvPr/>
        </p:nvSpPr>
        <p:spPr>
          <a:xfrm>
            <a:off x="7264400" y="2095500"/>
            <a:ext cx="41148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Targeted trial while attendees have time to browse</a:t>
            </a:r>
            <a:endParaRPr lang="en-US" sz="2000" dirty="0"/>
          </a:p>
        </p:txBody>
      </p:sp>
      <p:sp>
        <p:nvSpPr>
          <p:cNvPr id="9" name="text-226"/>
          <p:cNvSpPr txBox="1"/>
          <p:nvPr/>
        </p:nvSpPr>
        <p:spPr>
          <a:xfrm>
            <a:off x="7264400" y="2895600"/>
            <a:ext cx="4114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2"/>
                </a:solidFill>
              </a:rPr>
              <a:t>Primary: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targeted product trial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2"/>
                </a:solidFill>
              </a:rPr>
              <a:t>Secondary: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education, offers, content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Sealed samples, short explanation, coupon or QR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MicroBiome suit as a photo element only</a:t>
            </a:r>
            <a:endParaRPr lang="en-US" sz="1400" dirty="0"/>
          </a:p>
        </p:txBody>
      </p:sp>
      <p:sp>
        <p:nvSpPr>
          <p:cNvPr id="10" name="text-227"/>
          <p:cNvSpPr txBox="1"/>
          <p:nvPr/>
        </p:nvSpPr>
        <p:spPr>
          <a:xfrm>
            <a:off x="7264400" y="4851400"/>
            <a:ext cx="41148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The link is wellness and routine, never running performance. Compare cost per acquisition with the dental program before expanding.</a:t>
            </a:r>
            <a:endParaRPr lang="en-US" sz="1200" dirty="0"/>
          </a:p>
        </p:txBody>
      </p:sp>
      <p:sp>
        <p:nvSpPr>
          <p:cNvPr id="11" name="pill-228"/>
          <p:cNvSpPr/>
          <p:nvPr/>
        </p:nvSpPr>
        <p:spPr>
          <a:xfrm>
            <a:off x="7264400" y="56134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Shop</a:t>
            </a:r>
            <a:endParaRPr lang="en-US" sz="4000" dirty="0"/>
          </a:p>
        </p:txBody>
      </p:sp>
      <p:sp>
        <p:nvSpPr>
          <p:cNvPr id="3" name="shape-229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30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Convert interest into purchase</a:t>
            </a:r>
            <a:endParaRPr lang="en-US" sz="1400" dirty="0"/>
          </a:p>
        </p:txBody>
      </p:sp>
      <p:sp>
        <p:nvSpPr>
          <p:cNvPr id="5" name="text-231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232" descr="Retail shelf concept: a block of navy Crest MicroBiome cartons at eye level with a teal shelf strip reading Cavity protection. Care for helpful bacteri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816100"/>
            <a:ext cx="5715000" cy="3556000"/>
          </a:xfrm>
          <a:prstGeom prst="rect">
            <a:avLst/>
          </a:prstGeom>
        </p:spPr>
      </p:pic>
      <p:sp>
        <p:nvSpPr>
          <p:cNvPr id="7" name="text-233"/>
          <p:cNvSpPr txBox="1"/>
          <p:nvPr/>
        </p:nvSpPr>
        <p:spPr>
          <a:xfrm>
            <a:off x="812800" y="54737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Shelf concept: MicroBiome blocked together under one clear message.</a:t>
            </a:r>
            <a:endParaRPr lang="en-US" sz="1200" dirty="0"/>
          </a:p>
        </p:txBody>
      </p:sp>
      <p:sp>
        <p:nvSpPr>
          <p:cNvPr id="8" name="text-234"/>
          <p:cNvSpPr txBox="1"/>
          <p:nvPr/>
        </p:nvSpPr>
        <p:spPr>
          <a:xfrm>
            <a:off x="6883400" y="1803400"/>
            <a:ext cx="449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PATHS TO PURCHASE</a:t>
            </a:r>
            <a:endParaRPr lang="en-US" sz="1200" dirty="0"/>
          </a:p>
        </p:txBody>
      </p:sp>
      <p:sp>
        <p:nvSpPr>
          <p:cNvPr id="9" name="icon-bg-235"/>
          <p:cNvSpPr/>
          <p:nvPr/>
        </p:nvSpPr>
        <p:spPr>
          <a:xfrm>
            <a:off x="6883400" y="21336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3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775" y="2212975"/>
            <a:ext cx="196850" cy="196850"/>
          </a:xfrm>
          <a:prstGeom prst="rect">
            <a:avLst/>
          </a:prstGeom>
        </p:spPr>
      </p:pic>
      <p:sp>
        <p:nvSpPr>
          <p:cNvPr id="11" name="text-236"/>
          <p:cNvSpPr txBox="1"/>
          <p:nvPr/>
        </p:nvSpPr>
        <p:spPr>
          <a:xfrm>
            <a:off x="7366000" y="20828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Creator links to participating retailers</a:t>
            </a:r>
            <a:endParaRPr lang="en-US" sz="1400" dirty="0"/>
          </a:p>
        </p:txBody>
      </p:sp>
      <p:sp>
        <p:nvSpPr>
          <p:cNvPr id="12" name="icon-bg-237"/>
          <p:cNvSpPr/>
          <p:nvPr/>
        </p:nvSpPr>
        <p:spPr>
          <a:xfrm>
            <a:off x="6883400" y="26797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3" name="icon-23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775" y="2759075"/>
            <a:ext cx="196850" cy="196850"/>
          </a:xfrm>
          <a:prstGeom prst="rect">
            <a:avLst/>
          </a:prstGeom>
        </p:spPr>
      </p:pic>
      <p:sp>
        <p:nvSpPr>
          <p:cNvPr id="14" name="text-238"/>
          <p:cNvSpPr txBox="1"/>
          <p:nvPr/>
        </p:nvSpPr>
        <p:spPr>
          <a:xfrm>
            <a:off x="7366000" y="26289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trackable coupon with every sample</a:t>
            </a:r>
            <a:endParaRPr lang="en-US" sz="1400" dirty="0"/>
          </a:p>
        </p:txBody>
      </p:sp>
      <p:sp>
        <p:nvSpPr>
          <p:cNvPr id="15" name="icon-bg-239"/>
          <p:cNvSpPr/>
          <p:nvPr/>
        </p:nvSpPr>
        <p:spPr>
          <a:xfrm>
            <a:off x="6883400" y="32258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icon-23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775" y="3305175"/>
            <a:ext cx="196850" cy="196850"/>
          </a:xfrm>
          <a:prstGeom prst="rect">
            <a:avLst/>
          </a:prstGeom>
        </p:spPr>
      </p:pic>
      <p:sp>
        <p:nvSpPr>
          <p:cNvPr id="17" name="text-240"/>
          <p:cNvSpPr txBox="1"/>
          <p:nvPr/>
        </p:nvSpPr>
        <p:spPr>
          <a:xfrm>
            <a:off x="7366000" y="31750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QR landing pages with retailer links</a:t>
            </a:r>
            <a:endParaRPr lang="en-US" sz="1400" dirty="0"/>
          </a:p>
        </p:txBody>
      </p:sp>
      <p:sp>
        <p:nvSpPr>
          <p:cNvPr id="18" name="icon-bg-241"/>
          <p:cNvSpPr/>
          <p:nvPr/>
        </p:nvSpPr>
        <p:spPr>
          <a:xfrm>
            <a:off x="6883400" y="37719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9" name="icon-24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2775" y="3851275"/>
            <a:ext cx="196850" cy="196850"/>
          </a:xfrm>
          <a:prstGeom prst="rect">
            <a:avLst/>
          </a:prstGeom>
        </p:spPr>
      </p:pic>
      <p:sp>
        <p:nvSpPr>
          <p:cNvPr id="20" name="text-242"/>
          <p:cNvSpPr txBox="1"/>
          <p:nvPr/>
        </p:nvSpPr>
        <p:spPr>
          <a:xfrm>
            <a:off x="7366000" y="37211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Shelf: “Cavity protection. Care for helpful bacteria.”</a:t>
            </a:r>
            <a:endParaRPr lang="en-US" sz="1400" dirty="0"/>
          </a:p>
        </p:txBody>
      </p:sp>
      <p:sp>
        <p:nvSpPr>
          <p:cNvPr id="21" name="icon-bg-243"/>
          <p:cNvSpPr/>
          <p:nvPr/>
        </p:nvSpPr>
        <p:spPr>
          <a:xfrm>
            <a:off x="6883400" y="43180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2" name="icon-24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2775" y="4397375"/>
            <a:ext cx="196850" cy="196850"/>
          </a:xfrm>
          <a:prstGeom prst="rect">
            <a:avLst/>
          </a:prstGeom>
        </p:spPr>
      </p:pic>
      <p:sp>
        <p:nvSpPr>
          <p:cNvPr id="23" name="text-244"/>
          <p:cNvSpPr txBox="1"/>
          <p:nvPr/>
        </p:nvSpPr>
        <p:spPr>
          <a:xfrm>
            <a:off x="7366000" y="42672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Retail product pages that explain the benefit</a:t>
            </a:r>
            <a:endParaRPr lang="en-US" sz="1400" dirty="0"/>
          </a:p>
        </p:txBody>
      </p:sp>
      <p:sp>
        <p:nvSpPr>
          <p:cNvPr id="24" name="text-245"/>
          <p:cNvSpPr txBox="1"/>
          <p:nvPr/>
        </p:nvSpPr>
        <p:spPr>
          <a:xfrm>
            <a:off x="6883400" y="4927600"/>
            <a:ext cx="4495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An additional Crest choice for wellness-minded shoppers, never at the expense of confidence in existing Crest products.</a:t>
            </a:r>
            <a:endParaRPr lang="en-US" sz="1200" dirty="0"/>
          </a:p>
        </p:txBody>
      </p:sp>
      <p:sp>
        <p:nvSpPr>
          <p:cNvPr id="25" name="pill-246"/>
          <p:cNvSpPr/>
          <p:nvPr/>
        </p:nvSpPr>
        <p:spPr>
          <a:xfrm>
            <a:off x="6883400" y="56134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Thrive</a:t>
            </a:r>
            <a:endParaRPr lang="en-US" sz="4000" dirty="0"/>
          </a:p>
        </p:txBody>
      </p:sp>
      <p:sp>
        <p:nvSpPr>
          <p:cNvPr id="3" name="shape-247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48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repeat purchase &amp; community</a:t>
            </a:r>
            <a:endParaRPr lang="en-US" sz="1400" dirty="0"/>
          </a:p>
        </p:txBody>
      </p:sp>
      <p:sp>
        <p:nvSpPr>
          <p:cNvPr id="5" name="text-249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250"/>
          <p:cNvSpPr txBox="1"/>
          <p:nvPr/>
        </p:nvSpPr>
        <p:spPr>
          <a:xfrm>
            <a:off x="812800" y="1676400"/>
            <a:ext cx="10566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shared, accessible action: taking two minutes for yourself.</a:t>
            </a:r>
            <a:endParaRPr lang="en-US" sz="2600" dirty="0"/>
          </a:p>
        </p:txBody>
      </p:sp>
      <p:sp>
        <p:nvSpPr>
          <p:cNvPr id="7" name="text-251"/>
          <p:cNvSpPr txBox="1"/>
          <p:nvPr/>
        </p:nvSpPr>
        <p:spPr>
          <a:xfrm>
            <a:off x="812800" y="27305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 MOVEMENT NEEDS MORE THAN A HASHTAG</a:t>
            </a:r>
            <a:endParaRPr lang="en-US" sz="1200" dirty="0"/>
          </a:p>
        </p:txBody>
      </p:sp>
      <p:sp>
        <p:nvSpPr>
          <p:cNvPr id="8" name="shape-252"/>
          <p:cNvSpPr/>
          <p:nvPr/>
        </p:nvSpPr>
        <p:spPr>
          <a:xfrm>
            <a:off x="812800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icon-bg-253"/>
          <p:cNvSpPr/>
          <p:nvPr/>
        </p:nvSpPr>
        <p:spPr>
          <a:xfrm>
            <a:off x="1066800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5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8400" y="3403600"/>
            <a:ext cx="254000" cy="254000"/>
          </a:xfrm>
          <a:prstGeom prst="rect">
            <a:avLst/>
          </a:prstGeom>
        </p:spPr>
      </p:pic>
      <p:sp>
        <p:nvSpPr>
          <p:cNvPr id="11" name="text-254"/>
          <p:cNvSpPr txBox="1"/>
          <p:nvPr/>
        </p:nvSpPr>
        <p:spPr>
          <a:xfrm>
            <a:off x="1066800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Recognizable faces</a:t>
            </a:r>
            <a:endParaRPr lang="en-US" sz="2000" dirty="0"/>
          </a:p>
        </p:txBody>
      </p:sp>
      <p:sp>
        <p:nvSpPr>
          <p:cNvPr id="12" name="text-255"/>
          <p:cNvSpPr txBox="1"/>
          <p:nvPr/>
        </p:nvSpPr>
        <p:spPr>
          <a:xfrm>
            <a:off x="1066800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Continuing relationships with the same creators, not one-off posts.</a:t>
            </a:r>
            <a:endParaRPr lang="en-US" sz="1400" dirty="0"/>
          </a:p>
        </p:txBody>
      </p:sp>
      <p:sp>
        <p:nvSpPr>
          <p:cNvPr id="13" name="shape-256"/>
          <p:cNvSpPr/>
          <p:nvPr/>
        </p:nvSpPr>
        <p:spPr>
          <a:xfrm>
            <a:off x="4402455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icon-bg-257"/>
          <p:cNvSpPr/>
          <p:nvPr/>
        </p:nvSpPr>
        <p:spPr>
          <a:xfrm>
            <a:off x="4656455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con-25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055" y="3403600"/>
            <a:ext cx="254000" cy="254000"/>
          </a:xfrm>
          <a:prstGeom prst="rect">
            <a:avLst/>
          </a:prstGeom>
        </p:spPr>
      </p:pic>
      <p:sp>
        <p:nvSpPr>
          <p:cNvPr id="16" name="text-258"/>
          <p:cNvSpPr txBox="1"/>
          <p:nvPr/>
        </p:nvSpPr>
        <p:spPr>
          <a:xfrm>
            <a:off x="4656455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Repeat participation</a:t>
            </a:r>
            <a:endParaRPr lang="en-US" sz="2000" dirty="0"/>
          </a:p>
        </p:txBody>
      </p:sp>
      <p:sp>
        <p:nvSpPr>
          <p:cNvPr id="17" name="text-259"/>
          <p:cNvSpPr txBox="1"/>
          <p:nvPr/>
        </p:nvSpPr>
        <p:spPr>
          <a:xfrm>
            <a:off x="4656455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Customers share what their first two minutes mean; we feature stories with permission.</a:t>
            </a:r>
            <a:endParaRPr lang="en-US" sz="1400" dirty="0"/>
          </a:p>
        </p:txBody>
      </p:sp>
      <p:sp>
        <p:nvSpPr>
          <p:cNvPr id="18" name="shape-260"/>
          <p:cNvSpPr/>
          <p:nvPr/>
        </p:nvSpPr>
        <p:spPr>
          <a:xfrm>
            <a:off x="7992110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icon-bg-261"/>
          <p:cNvSpPr/>
          <p:nvPr/>
        </p:nvSpPr>
        <p:spPr>
          <a:xfrm>
            <a:off x="8246110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0" name="icon-26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7710" y="3403600"/>
            <a:ext cx="254000" cy="254000"/>
          </a:xfrm>
          <a:prstGeom prst="rect">
            <a:avLst/>
          </a:prstGeom>
        </p:spPr>
      </p:pic>
      <p:sp>
        <p:nvSpPr>
          <p:cNvPr id="21" name="text-262"/>
          <p:cNvSpPr txBox="1"/>
          <p:nvPr/>
        </p:nvSpPr>
        <p:spPr>
          <a:xfrm>
            <a:off x="8246110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A product connection</a:t>
            </a:r>
            <a:endParaRPr lang="en-US" sz="2000" dirty="0"/>
          </a:p>
        </p:txBody>
      </p:sp>
      <p:sp>
        <p:nvSpPr>
          <p:cNvPr id="22" name="text-263"/>
          <p:cNvSpPr txBox="1"/>
          <p:nvPr/>
        </p:nvSpPr>
        <p:spPr>
          <a:xfrm>
            <a:off x="8246110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Optional replenishment offers through participating retailers.</a:t>
            </a:r>
            <a:endParaRPr lang="en-US" sz="1400" dirty="0"/>
          </a:p>
        </p:txBody>
      </p:sp>
      <p:sp>
        <p:nvSpPr>
          <p:cNvPr id="23" name="text-264"/>
          <p:cNvSpPr txBox="1"/>
          <p:nvPr/>
        </p:nvSpPr>
        <p:spPr>
          <a:xfrm>
            <a:off x="812800" y="55880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“Thrive” refers to the routine and the community, not a promised clinical outcome.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Why Crest Can Execute</a:t>
            </a:r>
            <a:endParaRPr lang="en-US" sz="4000" dirty="0"/>
          </a:p>
        </p:txBody>
      </p:sp>
      <p:sp>
        <p:nvSpPr>
          <p:cNvPr id="3" name="shape-265"/>
          <p:cNvSpPr/>
          <p:nvPr/>
        </p:nvSpPr>
        <p:spPr>
          <a:xfrm>
            <a:off x="812800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icon-bg-266"/>
          <p:cNvSpPr/>
          <p:nvPr/>
        </p:nvSpPr>
        <p:spPr>
          <a:xfrm>
            <a:off x="1041400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-26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032000"/>
            <a:ext cx="254000" cy="254000"/>
          </a:xfrm>
          <a:prstGeom prst="rect">
            <a:avLst/>
          </a:prstGeom>
        </p:spPr>
      </p:pic>
      <p:sp>
        <p:nvSpPr>
          <p:cNvPr id="6" name="text-267"/>
          <p:cNvSpPr txBox="1"/>
          <p:nvPr/>
        </p:nvSpPr>
        <p:spPr>
          <a:xfrm>
            <a:off x="1041400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Brand recognition</a:t>
            </a:r>
            <a:endParaRPr lang="en-US" sz="2000" dirty="0"/>
          </a:p>
        </p:txBody>
      </p:sp>
      <p:sp>
        <p:nvSpPr>
          <p:cNvPr id="7" name="text-268"/>
          <p:cNvSpPr txBox="1"/>
          <p:nvPr/>
        </p:nvSpPr>
        <p:spPr>
          <a:xfrm>
            <a:off x="1041400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Crest's established name supports reach for a new benefit.</a:t>
            </a:r>
            <a:endParaRPr lang="en-US" sz="1400" dirty="0"/>
          </a:p>
        </p:txBody>
      </p:sp>
      <p:sp>
        <p:nvSpPr>
          <p:cNvPr id="8" name="shape-269"/>
          <p:cNvSpPr/>
          <p:nvPr/>
        </p:nvSpPr>
        <p:spPr>
          <a:xfrm>
            <a:off x="4402455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icon-bg-270"/>
          <p:cNvSpPr/>
          <p:nvPr/>
        </p:nvSpPr>
        <p:spPr>
          <a:xfrm>
            <a:off x="4631055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7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655" y="2032000"/>
            <a:ext cx="254000" cy="254000"/>
          </a:xfrm>
          <a:prstGeom prst="rect">
            <a:avLst/>
          </a:prstGeom>
        </p:spPr>
      </p:pic>
      <p:sp>
        <p:nvSpPr>
          <p:cNvPr id="11" name="text-271"/>
          <p:cNvSpPr txBox="1"/>
          <p:nvPr/>
        </p:nvSpPr>
        <p:spPr>
          <a:xfrm>
            <a:off x="4631055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Professional relationships</a:t>
            </a:r>
            <a:endParaRPr lang="en-US" sz="2000" dirty="0"/>
          </a:p>
        </p:txBody>
      </p:sp>
      <p:sp>
        <p:nvSpPr>
          <p:cNvPr id="12" name="text-272"/>
          <p:cNvSpPr txBox="1"/>
          <p:nvPr/>
        </p:nvSpPr>
        <p:spPr>
          <a:xfrm>
            <a:off x="4631055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Dental ties support education and clinic sampling.</a:t>
            </a:r>
            <a:endParaRPr lang="en-US" sz="1400" dirty="0"/>
          </a:p>
        </p:txBody>
      </p:sp>
      <p:sp>
        <p:nvSpPr>
          <p:cNvPr id="13" name="shape-273"/>
          <p:cNvSpPr/>
          <p:nvPr/>
        </p:nvSpPr>
        <p:spPr>
          <a:xfrm>
            <a:off x="7992110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icon-bg-274"/>
          <p:cNvSpPr/>
          <p:nvPr/>
        </p:nvSpPr>
        <p:spPr>
          <a:xfrm>
            <a:off x="8220710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con-27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2310" y="2032000"/>
            <a:ext cx="254000" cy="254000"/>
          </a:xfrm>
          <a:prstGeom prst="rect">
            <a:avLst/>
          </a:prstGeom>
        </p:spPr>
      </p:pic>
      <p:sp>
        <p:nvSpPr>
          <p:cNvPr id="16" name="text-275"/>
          <p:cNvSpPr txBox="1"/>
          <p:nvPr/>
        </p:nvSpPr>
        <p:spPr>
          <a:xfrm>
            <a:off x="8220710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Recognizable human faces</a:t>
            </a:r>
            <a:endParaRPr lang="en-US" sz="2000" dirty="0"/>
          </a:p>
        </p:txBody>
      </p:sp>
      <p:sp>
        <p:nvSpPr>
          <p:cNvPr id="17" name="text-276"/>
          <p:cNvSpPr txBox="1"/>
          <p:nvPr/>
        </p:nvSpPr>
        <p:spPr>
          <a:xfrm>
            <a:off x="8220710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Recurring creators, dentists and community members.</a:t>
            </a:r>
            <a:endParaRPr lang="en-US" sz="1400" dirty="0"/>
          </a:p>
        </p:txBody>
      </p:sp>
      <p:sp>
        <p:nvSpPr>
          <p:cNvPr id="18" name="shape-277"/>
          <p:cNvSpPr/>
          <p:nvPr/>
        </p:nvSpPr>
        <p:spPr>
          <a:xfrm>
            <a:off x="812800" y="4292600"/>
            <a:ext cx="10566400" cy="175260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-278"/>
          <p:cNvSpPr txBox="1"/>
          <p:nvPr/>
        </p:nvSpPr>
        <p:spPr>
          <a:xfrm>
            <a:off x="1066800" y="4495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 SMALL LAUNCH TEAM</a:t>
            </a:r>
            <a:endParaRPr lang="en-US" sz="1200" dirty="0"/>
          </a:p>
        </p:txBody>
      </p:sp>
      <p:sp>
        <p:nvSpPr>
          <p:cNvPr id="20" name="text-279"/>
          <p:cNvSpPr txBox="1"/>
          <p:nvPr/>
        </p:nvSpPr>
        <p:spPr>
          <a:xfrm>
            <a:off x="6350000" y="4495800"/>
            <a:ext cx="477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Fast on routine content, careful on health claims</a:t>
            </a:r>
            <a:endParaRPr lang="en-US" sz="1200" dirty="0"/>
          </a:p>
        </p:txBody>
      </p:sp>
      <p:sp>
        <p:nvSpPr>
          <p:cNvPr id="21" name="pill-280"/>
          <p:cNvSpPr/>
          <p:nvPr/>
        </p:nvSpPr>
        <p:spPr>
          <a:xfrm>
            <a:off x="1066800" y="4851400"/>
            <a:ext cx="318770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Routine post, approved format</a:t>
            </a:r>
            <a:endParaRPr lang="en-US" sz="1400" dirty="0"/>
          </a:p>
        </p:txBody>
      </p:sp>
      <p:sp>
        <p:nvSpPr>
          <p:cNvPr id="22" name="lane-arrow-281"/>
          <p:cNvSpPr/>
          <p:nvPr/>
        </p:nvSpPr>
        <p:spPr>
          <a:xfrm>
            <a:off x="4356100" y="49657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3" name="pill-282"/>
          <p:cNvSpPr/>
          <p:nvPr/>
        </p:nvSpPr>
        <p:spPr>
          <a:xfrm>
            <a:off x="4711700" y="4851400"/>
            <a:ext cx="141605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Launch team</a:t>
            </a:r>
            <a:endParaRPr lang="en-US" sz="1400" dirty="0"/>
          </a:p>
        </p:txBody>
      </p:sp>
      <p:sp>
        <p:nvSpPr>
          <p:cNvPr id="24" name="lane-arrow-283"/>
          <p:cNvSpPr/>
          <p:nvPr/>
        </p:nvSpPr>
        <p:spPr>
          <a:xfrm>
            <a:off x="6229350" y="49657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5" name="pill-284"/>
          <p:cNvSpPr/>
          <p:nvPr/>
        </p:nvSpPr>
        <p:spPr>
          <a:xfrm>
            <a:off x="6584950" y="4851400"/>
            <a:ext cx="102235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Publish</a:t>
            </a:r>
            <a:endParaRPr lang="en-US" sz="1400" dirty="0"/>
          </a:p>
        </p:txBody>
      </p:sp>
      <p:sp>
        <p:nvSpPr>
          <p:cNvPr id="26" name="pill-285"/>
          <p:cNvSpPr/>
          <p:nvPr/>
        </p:nvSpPr>
        <p:spPr>
          <a:xfrm>
            <a:off x="1066800" y="5410200"/>
            <a:ext cx="1905000" cy="3556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New health claim</a:t>
            </a:r>
            <a:endParaRPr lang="en-US" sz="1400" dirty="0"/>
          </a:p>
        </p:txBody>
      </p:sp>
      <p:sp>
        <p:nvSpPr>
          <p:cNvPr id="27" name="lane-arrow-286"/>
          <p:cNvSpPr/>
          <p:nvPr/>
        </p:nvSpPr>
        <p:spPr>
          <a:xfrm>
            <a:off x="3073400" y="5524500"/>
            <a:ext cx="254000" cy="12700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28" name="pill-287"/>
          <p:cNvSpPr/>
          <p:nvPr/>
        </p:nvSpPr>
        <p:spPr>
          <a:xfrm>
            <a:off x="3429000" y="5410200"/>
            <a:ext cx="1612900" cy="3556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Claims review</a:t>
            </a:r>
            <a:endParaRPr lang="en-US" sz="1400" dirty="0"/>
          </a:p>
        </p:txBody>
      </p:sp>
      <p:sp>
        <p:nvSpPr>
          <p:cNvPr id="29" name="lane-arrow-288"/>
          <p:cNvSpPr/>
          <p:nvPr/>
        </p:nvSpPr>
        <p:spPr>
          <a:xfrm>
            <a:off x="5143500" y="5524500"/>
            <a:ext cx="254000" cy="12700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30" name="pill-289"/>
          <p:cNvSpPr/>
          <p:nvPr/>
        </p:nvSpPr>
        <p:spPr>
          <a:xfrm>
            <a:off x="5499100" y="5410200"/>
            <a:ext cx="141605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Launch team</a:t>
            </a:r>
            <a:endParaRPr lang="en-US" sz="1400" dirty="0"/>
          </a:p>
        </p:txBody>
      </p:sp>
      <p:sp>
        <p:nvSpPr>
          <p:cNvPr id="31" name="lane-arrow-290"/>
          <p:cNvSpPr/>
          <p:nvPr/>
        </p:nvSpPr>
        <p:spPr>
          <a:xfrm>
            <a:off x="7016750" y="55245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32" name="pill-291"/>
          <p:cNvSpPr/>
          <p:nvPr/>
        </p:nvSpPr>
        <p:spPr>
          <a:xfrm>
            <a:off x="7372350" y="5410200"/>
            <a:ext cx="102235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Publish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Launch Roadmap</a:t>
            </a:r>
            <a:endParaRPr lang="en-US" sz="4000" dirty="0"/>
          </a:p>
        </p:txBody>
      </p:sp>
      <p:sp>
        <p:nvSpPr>
          <p:cNvPr id="3" name="shape-292"/>
          <p:cNvSpPr/>
          <p:nvPr/>
        </p:nvSpPr>
        <p:spPr>
          <a:xfrm>
            <a:off x="8128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shape-293"/>
          <p:cNvSpPr/>
          <p:nvPr/>
        </p:nvSpPr>
        <p:spPr>
          <a:xfrm>
            <a:off x="10668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7BC67E"/>
          </a:solidFill>
          <a:ln/>
        </p:spPr>
      </p:sp>
      <p:sp>
        <p:nvSpPr>
          <p:cNvPr id="5" name="text-294"/>
          <p:cNvSpPr txBox="1"/>
          <p:nvPr/>
        </p:nvSpPr>
        <p:spPr>
          <a:xfrm>
            <a:off x="10668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BEFORE LAUNCH</a:t>
            </a:r>
            <a:endParaRPr lang="en-US" sz="1200" dirty="0"/>
          </a:p>
        </p:txBody>
      </p:sp>
      <p:sp>
        <p:nvSpPr>
          <p:cNvPr id="6" name="text-295"/>
          <p:cNvSpPr txBox="1"/>
          <p:nvPr/>
        </p:nvSpPr>
        <p:spPr>
          <a:xfrm>
            <a:off x="10668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Preparation</a:t>
            </a:r>
            <a:endParaRPr lang="en-US" sz="2000" dirty="0"/>
          </a:p>
        </p:txBody>
      </p:sp>
      <p:sp>
        <p:nvSpPr>
          <p:cNvPr id="7" name="text-296"/>
          <p:cNvSpPr txBox="1"/>
          <p:nvPr/>
        </p:nvSpPr>
        <p:spPr>
          <a:xfrm>
            <a:off x="10668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Validate claims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Recruit creators and clinics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Secure retail partners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Establish tracking</a:t>
            </a:r>
            <a:endParaRPr lang="en-US" sz="1400" dirty="0"/>
          </a:p>
        </p:txBody>
      </p:sp>
      <p:sp>
        <p:nvSpPr>
          <p:cNvPr id="8" name="shape-297"/>
          <p:cNvSpPr/>
          <p:nvPr/>
        </p:nvSpPr>
        <p:spPr>
          <a:xfrm>
            <a:off x="39116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-298"/>
          <p:cNvSpPr/>
          <p:nvPr/>
        </p:nvSpPr>
        <p:spPr>
          <a:xfrm>
            <a:off x="41656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007A75"/>
          </a:solidFill>
          <a:ln/>
        </p:spPr>
      </p:sp>
      <p:sp>
        <p:nvSpPr>
          <p:cNvPr id="10" name="text-299"/>
          <p:cNvSpPr txBox="1"/>
          <p:nvPr/>
        </p:nvSpPr>
        <p:spPr>
          <a:xfrm>
            <a:off x="41656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SUMMER 2027</a:t>
            </a:r>
            <a:endParaRPr lang="en-US" sz="1200" dirty="0"/>
          </a:p>
        </p:txBody>
      </p:sp>
      <p:sp>
        <p:nvSpPr>
          <p:cNvPr id="11" name="text-300"/>
          <p:cNvSpPr txBox="1"/>
          <p:nvPr/>
        </p:nvSpPr>
        <p:spPr>
          <a:xfrm>
            <a:off x="41656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Launch</a:t>
            </a:r>
            <a:endParaRPr lang="en-US" sz="2000" dirty="0"/>
          </a:p>
        </p:txBody>
      </p:sp>
      <p:sp>
        <p:nvSpPr>
          <p:cNvPr id="12" name="text-301"/>
          <p:cNvSpPr txBox="1"/>
          <p:nvPr/>
        </p:nvSpPr>
        <p:spPr>
          <a:xfrm>
            <a:off x="41656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Begin the dental pilot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Creator content and Meta ads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Selected expo tests</a:t>
            </a:r>
            <a:endParaRPr lang="en-US" sz="1400" dirty="0"/>
          </a:p>
        </p:txBody>
      </p:sp>
      <p:sp>
        <p:nvSpPr>
          <p:cNvPr id="13" name="shape-302"/>
          <p:cNvSpPr/>
          <p:nvPr/>
        </p:nvSpPr>
        <p:spPr>
          <a:xfrm>
            <a:off x="84328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-303"/>
          <p:cNvSpPr/>
          <p:nvPr/>
        </p:nvSpPr>
        <p:spPr>
          <a:xfrm>
            <a:off x="86868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0A2463"/>
          </a:solidFill>
          <a:ln/>
        </p:spPr>
      </p:sp>
      <p:sp>
        <p:nvSpPr>
          <p:cNvPr id="15" name="text-304"/>
          <p:cNvSpPr txBox="1"/>
          <p:nvPr/>
        </p:nvSpPr>
        <p:spPr>
          <a:xfrm>
            <a:off x="86868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tx1"/>
                </a:solidFill>
              </a:rPr>
              <a:t>AFTER THE PILOT</a:t>
            </a:r>
            <a:endParaRPr lang="en-US" sz="1200" dirty="0"/>
          </a:p>
        </p:txBody>
      </p:sp>
      <p:sp>
        <p:nvSpPr>
          <p:cNvPr id="16" name="text-305"/>
          <p:cNvSpPr txBox="1"/>
          <p:nvPr/>
        </p:nvSpPr>
        <p:spPr>
          <a:xfrm>
            <a:off x="86868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Expansion</a:t>
            </a:r>
            <a:endParaRPr lang="en-US" sz="2000" dirty="0"/>
          </a:p>
        </p:txBody>
      </p:sp>
      <p:sp>
        <p:nvSpPr>
          <p:cNvPr id="17" name="text-306"/>
          <p:cNvSpPr txBox="1"/>
          <p:nvPr/>
        </p:nvSpPr>
        <p:spPr>
          <a:xfrm>
            <a:off x="86868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Scale effective channels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Replenish samples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Focus on repeat purchase</a:t>
            </a:r>
            <a:endParaRPr lang="en-US" sz="1400" dirty="0"/>
          </a:p>
        </p:txBody>
      </p:sp>
      <p:sp>
        <p:nvSpPr>
          <p:cNvPr id="18" name="decision-gate"/>
          <p:cNvSpPr/>
          <p:nvPr/>
        </p:nvSpPr>
        <p:spPr>
          <a:xfrm>
            <a:off x="7340600" y="2857500"/>
            <a:ext cx="609600" cy="60960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9" name="text-307"/>
          <p:cNvSpPr txBox="1"/>
          <p:nvPr/>
        </p:nvSpPr>
        <p:spPr>
          <a:xfrm>
            <a:off x="7010400" y="35941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Decision gate</a:t>
            </a:r>
            <a:endParaRPr lang="en-US" sz="1200" dirty="0"/>
          </a:p>
        </p:txBody>
      </p:sp>
      <p:sp>
        <p:nvSpPr>
          <p:cNvPr id="20" name="text-308"/>
          <p:cNvSpPr txBox="1"/>
          <p:nvPr/>
        </p:nvSpPr>
        <p:spPr>
          <a:xfrm>
            <a:off x="7010400" y="3848100"/>
            <a:ext cx="127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Pilot results vs. targets</a:t>
            </a:r>
            <a:endParaRPr lang="en-US" sz="1200" dirty="0"/>
          </a:p>
        </p:txBody>
      </p:sp>
      <p:sp>
        <p:nvSpPr>
          <p:cNvPr id="21" name="text-309"/>
          <p:cNvSpPr txBox="1"/>
          <p:nvPr/>
        </p:nvSpPr>
        <p:spPr>
          <a:xfrm>
            <a:off x="812800" y="57658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Timing is shown relative to launch.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Year 1 Budget</a:t>
            </a:r>
            <a:endParaRPr lang="en-US" sz="4000" dirty="0"/>
          </a:p>
        </p:txBody>
      </p:sp>
      <p:sp>
        <p:nvSpPr>
          <p:cNvPr id="3" name="pill-310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sp>
        <p:nvSpPr>
          <p:cNvPr id="4" name="text-311"/>
          <p:cNvSpPr txBox="1"/>
          <p:nvPr/>
        </p:nvSpPr>
        <p:spPr>
          <a:xfrm>
            <a:off x="6819900" y="939800"/>
            <a:ext cx="177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CAD $1,000,000</a:t>
            </a:r>
            <a:endParaRPr lang="en-US" sz="1400" dirty="0"/>
          </a:p>
        </p:txBody>
      </p:sp>
      <p:sp>
        <p:nvSpPr>
          <p:cNvPr id="5" name="shape-312"/>
          <p:cNvSpPr/>
          <p:nvPr/>
        </p:nvSpPr>
        <p:spPr>
          <a:xfrm>
            <a:off x="812800" y="1625600"/>
            <a:ext cx="4756150" cy="4572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6" name="text-313"/>
          <p:cNvSpPr txBox="1"/>
          <p:nvPr/>
        </p:nvSpPr>
        <p:spPr>
          <a:xfrm>
            <a:off x="965200" y="1625600"/>
            <a:ext cx="44513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Connect · $450K</a:t>
            </a:r>
            <a:endParaRPr lang="en-US" sz="1200" dirty="0"/>
          </a:p>
        </p:txBody>
      </p:sp>
      <p:sp>
        <p:nvSpPr>
          <p:cNvPr id="7" name="shape-314"/>
          <p:cNvSpPr/>
          <p:nvPr/>
        </p:nvSpPr>
        <p:spPr>
          <a:xfrm>
            <a:off x="5568950" y="1625600"/>
            <a:ext cx="3695700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-315"/>
          <p:cNvSpPr txBox="1"/>
          <p:nvPr/>
        </p:nvSpPr>
        <p:spPr>
          <a:xfrm>
            <a:off x="5721350" y="1625600"/>
            <a:ext cx="3390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Experience · $350K</a:t>
            </a:r>
            <a:endParaRPr lang="en-US" sz="1200" dirty="0"/>
          </a:p>
        </p:txBody>
      </p:sp>
      <p:sp>
        <p:nvSpPr>
          <p:cNvPr id="9" name="shape-316"/>
          <p:cNvSpPr/>
          <p:nvPr/>
        </p:nvSpPr>
        <p:spPr>
          <a:xfrm>
            <a:off x="9264650" y="1625600"/>
            <a:ext cx="1054100" cy="4572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" name="text-317"/>
          <p:cNvSpPr txBox="1"/>
          <p:nvPr/>
        </p:nvSpPr>
        <p:spPr>
          <a:xfrm>
            <a:off x="9264650" y="1625600"/>
            <a:ext cx="105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$100K</a:t>
            </a:r>
            <a:endParaRPr lang="en-US" sz="1200" dirty="0"/>
          </a:p>
        </p:txBody>
      </p:sp>
      <p:sp>
        <p:nvSpPr>
          <p:cNvPr id="11" name="shape-318"/>
          <p:cNvSpPr/>
          <p:nvPr/>
        </p:nvSpPr>
        <p:spPr>
          <a:xfrm>
            <a:off x="10318750" y="1625600"/>
            <a:ext cx="1060450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2" name="text-319"/>
          <p:cNvSpPr txBox="1"/>
          <p:nvPr/>
        </p:nvSpPr>
        <p:spPr>
          <a:xfrm>
            <a:off x="10318750" y="1625600"/>
            <a:ext cx="1060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$100K</a:t>
            </a:r>
            <a:endParaRPr lang="en-US" sz="1200" dirty="0"/>
          </a:p>
        </p:txBody>
      </p:sp>
      <p:graphicFrame>
        <p:nvGraphicFramePr>
          <p:cNvPr id="22" name="table-3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86000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80"/>
                <a:gridCol w="5071872"/>
                <a:gridCol w="1901952"/>
                <a:gridCol w="1479296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Stage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Line item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Amount (CAD)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Share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Connect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Paid media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$300,000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Connect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Creators and content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Non-dental sampling and distribution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Event activation, staffing and logistics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Dental program, including dental samples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Shop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Retail offers and merchandising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F6B7E"/>
                          </a:solidFill>
                        </a:rPr>
                        <a:t>Measure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Research and measurement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F6B7E"/>
                          </a:solidFill>
                        </a:rPr>
                        <a:t>Reserve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Reserve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Year 1 marketing budget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$1,000,000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Dental Program Budget</a:t>
            </a:r>
            <a:endParaRPr lang="en-US" sz="4000" dirty="0"/>
          </a:p>
        </p:txBody>
      </p:sp>
      <p:sp>
        <p:nvSpPr>
          <p:cNvPr id="3" name="pill-321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graphicFrame>
        <p:nvGraphicFramePr>
          <p:cNvPr id="23" name="table-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6350000" cy="914400"/>
        </p:xfrm>
        <a:graphic>
          <a:graphicData uri="http://schemas.openxmlformats.org/drawingml/2006/table">
            <a:tbl>
              <a:tblPr/>
              <a:tblGrid>
                <a:gridCol w="4318000"/>
                <a:gridCol w="2032000"/>
              </a:tblGrid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Line item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Amount (CAD)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Sample production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Shipping and clinic kits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Patient cards and education materials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Clinic recruitment, onboarding and support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Measurement and contingency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Total dental program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5" name="text-323"/>
          <p:cNvSpPr txBox="1"/>
          <p:nvPr/>
        </p:nvSpPr>
        <p:spPr>
          <a:xfrm>
            <a:off x="812800" y="4318000"/>
            <a:ext cx="635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Proposed allocations that require supplier quotes. Coupon discounts come from the retail-offers budget, not this one.</a:t>
            </a:r>
            <a:endParaRPr lang="en-US" sz="1200" dirty="0"/>
          </a:p>
        </p:txBody>
      </p:sp>
      <p:sp>
        <p:nvSpPr>
          <p:cNvPr id="6" name="text-324"/>
          <p:cNvSpPr txBox="1"/>
          <p:nvPr/>
        </p:nvSpPr>
        <p:spPr>
          <a:xfrm>
            <a:off x="7569200" y="16764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STAGED RELEASE</a:t>
            </a:r>
            <a:endParaRPr lang="en-US" sz="1200" dirty="0"/>
          </a:p>
        </p:txBody>
      </p:sp>
      <p:sp>
        <p:nvSpPr>
          <p:cNvPr id="7" name="shape-325"/>
          <p:cNvSpPr/>
          <p:nvPr/>
        </p:nvSpPr>
        <p:spPr>
          <a:xfrm>
            <a:off x="7569200" y="1981200"/>
            <a:ext cx="3810000" cy="165100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8" name="text-326"/>
          <p:cNvSpPr txBox="1"/>
          <p:nvPr/>
        </p:nvSpPr>
        <p:spPr>
          <a:xfrm>
            <a:off x="7797800" y="2209800"/>
            <a:ext cx="3352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$25,000</a:t>
            </a:r>
            <a:endParaRPr lang="en-US" sz="4000" dirty="0"/>
          </a:p>
        </p:txBody>
      </p:sp>
      <p:sp>
        <p:nvSpPr>
          <p:cNvPr id="9" name="text-327"/>
          <p:cNvSpPr txBox="1"/>
          <p:nvPr/>
        </p:nvSpPr>
        <p:spPr>
          <a:xfrm>
            <a:off x="7797800" y="28956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Released now for the 50–100-clinic pilot</a:t>
            </a:r>
            <a:endParaRPr lang="en-US" sz="1400" dirty="0"/>
          </a:p>
        </p:txBody>
      </p:sp>
      <p:sp>
        <p:nvSpPr>
          <p:cNvPr id="10" name="shape-328"/>
          <p:cNvSpPr/>
          <p:nvPr/>
        </p:nvSpPr>
        <p:spPr>
          <a:xfrm>
            <a:off x="7569200" y="3759200"/>
            <a:ext cx="3810000" cy="165100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11" name="text-329"/>
          <p:cNvSpPr txBox="1"/>
          <p:nvPr/>
        </p:nvSpPr>
        <p:spPr>
          <a:xfrm>
            <a:off x="7797800" y="3987800"/>
            <a:ext cx="3352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chemeClr val="tx1"/>
                </a:solidFill>
              </a:rPr>
              <a:t>$75,000</a:t>
            </a:r>
            <a:endParaRPr lang="en-US" sz="4000" dirty="0"/>
          </a:p>
        </p:txBody>
      </p:sp>
      <p:sp>
        <p:nvSpPr>
          <p:cNvPr id="12" name="text-330"/>
          <p:cNvSpPr txBox="1"/>
          <p:nvPr/>
        </p:nvSpPr>
        <p:spPr>
          <a:xfrm>
            <a:off x="7797800" y="46736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Held for replenishment and expansion, released on results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Dental Sales Scenarios</a:t>
            </a:r>
            <a:endParaRPr lang="en-US" sz="4000" dirty="0"/>
          </a:p>
        </p:txBody>
      </p:sp>
      <p:sp>
        <p:nvSpPr>
          <p:cNvPr id="3" name="pill-331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FINANCIAL ASSUMPTION</a:t>
            </a:r>
            <a:endParaRPr lang="en-US" sz="1200" dirty="0"/>
          </a:p>
        </p:txBody>
      </p:sp>
      <p:sp>
        <p:nvSpPr>
          <p:cNvPr id="4" name="pill-332"/>
          <p:cNvSpPr/>
          <p:nvPr/>
        </p:nvSpPr>
        <p:spPr>
          <a:xfrm>
            <a:off x="812800" y="1600200"/>
            <a:ext cx="16002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$50K for samples</a:t>
            </a:r>
            <a:endParaRPr lang="en-US" sz="1200" dirty="0"/>
          </a:p>
        </p:txBody>
      </p:sp>
      <p:sp>
        <p:nvSpPr>
          <p:cNvPr id="5" name="text-333"/>
          <p:cNvSpPr txBox="1"/>
          <p:nvPr/>
        </p:nvSpPr>
        <p:spPr>
          <a:xfrm>
            <a:off x="24511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6" name="pill-334"/>
          <p:cNvSpPr/>
          <p:nvPr/>
        </p:nvSpPr>
        <p:spPr>
          <a:xfrm>
            <a:off x="2679700" y="1600200"/>
            <a:ext cx="16891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$1 each (assumed)</a:t>
            </a:r>
            <a:endParaRPr lang="en-US" sz="1200" dirty="0"/>
          </a:p>
        </p:txBody>
      </p:sp>
      <p:sp>
        <p:nvSpPr>
          <p:cNvPr id="7" name="text-335"/>
          <p:cNvSpPr txBox="1"/>
          <p:nvPr/>
        </p:nvSpPr>
        <p:spPr>
          <a:xfrm>
            <a:off x="44069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8" name="pill-336"/>
          <p:cNvSpPr/>
          <p:nvPr/>
        </p:nvSpPr>
        <p:spPr>
          <a:xfrm>
            <a:off x="4635500" y="1600200"/>
            <a:ext cx="14287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50,000 samples</a:t>
            </a:r>
            <a:endParaRPr lang="en-US" sz="1200" dirty="0"/>
          </a:p>
        </p:txBody>
      </p:sp>
      <p:sp>
        <p:nvSpPr>
          <p:cNvPr id="9" name="text-337"/>
          <p:cNvSpPr txBox="1"/>
          <p:nvPr/>
        </p:nvSpPr>
        <p:spPr>
          <a:xfrm>
            <a:off x="610235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0" name="pill-338"/>
          <p:cNvSpPr/>
          <p:nvPr/>
        </p:nvSpPr>
        <p:spPr>
          <a:xfrm>
            <a:off x="6330950" y="1600200"/>
            <a:ext cx="28003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80% reach recipients (assumed)</a:t>
            </a:r>
            <a:endParaRPr lang="en-US" sz="1200" dirty="0"/>
          </a:p>
        </p:txBody>
      </p:sp>
      <p:sp>
        <p:nvSpPr>
          <p:cNvPr id="11" name="text-339"/>
          <p:cNvSpPr txBox="1"/>
          <p:nvPr/>
        </p:nvSpPr>
        <p:spPr>
          <a:xfrm>
            <a:off x="91694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pill-340"/>
          <p:cNvSpPr/>
          <p:nvPr/>
        </p:nvSpPr>
        <p:spPr>
          <a:xfrm>
            <a:off x="9398000" y="1600200"/>
            <a:ext cx="1689100" cy="2921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40,000 recipients</a:t>
            </a:r>
            <a:endParaRPr lang="en-US" sz="1200" dirty="0"/>
          </a:p>
        </p:txBody>
      </p:sp>
      <p:graphicFrame>
        <p:nvGraphicFramePr>
          <p:cNvPr id="24" name="table-3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095500"/>
          <a:ext cx="10566400" cy="914400"/>
        </p:xfrm>
        <a:graphic>
          <a:graphicData uri="http://schemas.openxmlformats.org/drawingml/2006/table">
            <a:tbl>
              <a:tblPr/>
              <a:tblGrid>
                <a:gridCol w="4226560"/>
                <a:gridCol w="2113280"/>
                <a:gridCol w="2113280"/>
                <a:gridCol w="2113280"/>
              </a:tblGrid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Illustrative dental model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Conservative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Base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Strong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Purchase within 60 days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10%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First-time MicroBiome buyers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4,000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6,000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Full program cost per buyer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$50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$25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≈ $16.67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Initial retail sales at $8 per tube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$16,000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$32,000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$48,000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4" name="shape-342"/>
          <p:cNvSpPr/>
          <p:nvPr/>
        </p:nvSpPr>
        <p:spPr>
          <a:xfrm>
            <a:off x="812800" y="4171950"/>
            <a:ext cx="10566400" cy="901700"/>
          </a:xfrm>
          <a:prstGeom prst="roundRect">
            <a:avLst>
              <a:gd name="adj" fmla="val 16901"/>
            </a:avLst>
          </a:prstGeom>
          <a:solidFill>
            <a:schemeClr val="tx1"/>
          </a:solidFill>
          <a:ln/>
        </p:spPr>
      </p:sp>
      <p:sp>
        <p:nvSpPr>
          <p:cNvPr id="15" name="text-343"/>
          <p:cNvSpPr txBox="1"/>
          <p:nvPr/>
        </p:nvSpPr>
        <p:spPr>
          <a:xfrm>
            <a:off x="1066800" y="4171950"/>
            <a:ext cx="10058400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First purchases alone do not recover the $100,000 program.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The business case depends on repeat buying and incremental contribution.</a:t>
            </a:r>
            <a:endParaRPr lang="en-US" sz="1400" dirty="0"/>
          </a:p>
        </p:txBody>
      </p:sp>
      <p:sp>
        <p:nvSpPr>
          <p:cNvPr id="16" name="text-344"/>
          <p:cNvSpPr txBox="1"/>
          <p:nvPr/>
        </p:nvSpPr>
        <p:spPr>
          <a:xfrm>
            <a:off x="812800" y="52578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Not a launch forecast. Conversion rates and the $8 price are assumptions, not case facts. Retail sales are not Crest net revenue or profit. Repeat purchases are excluded, and some buyers may switch from other Crest products.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Measurement &amp; Decisions</a:t>
            </a:r>
            <a:endParaRPr lang="en-US" sz="4000" dirty="0"/>
          </a:p>
        </p:txBody>
      </p:sp>
      <p:sp>
        <p:nvSpPr>
          <p:cNvPr id="3" name="pill-345"/>
          <p:cNvSpPr/>
          <p:nvPr/>
        </p:nvSpPr>
        <p:spPr>
          <a:xfrm>
            <a:off x="8489950" y="971550"/>
            <a:ext cx="288925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PILOT TARGETS</a:t>
            </a:r>
            <a:endParaRPr lang="en-US" sz="1200" dirty="0"/>
          </a:p>
        </p:txBody>
      </p:sp>
      <p:sp>
        <p:nvSpPr>
          <p:cNvPr id="4" name="shape-346"/>
          <p:cNvSpPr/>
          <p:nvPr/>
        </p:nvSpPr>
        <p:spPr>
          <a:xfrm>
            <a:off x="812800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347"/>
          <p:cNvSpPr txBox="1"/>
          <p:nvPr/>
        </p:nvSpPr>
        <p:spPr>
          <a:xfrm>
            <a:off x="1066800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70%</a:t>
            </a:r>
            <a:endParaRPr lang="en-US" sz="6000" dirty="0"/>
          </a:p>
        </p:txBody>
      </p:sp>
      <p:sp>
        <p:nvSpPr>
          <p:cNvPr id="6" name="text-348"/>
          <p:cNvSpPr txBox="1"/>
          <p:nvPr/>
        </p:nvSpPr>
        <p:spPr>
          <a:xfrm>
            <a:off x="1066800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correctly understand the benefit</a:t>
            </a:r>
            <a:endParaRPr lang="en-US" sz="1400" dirty="0"/>
          </a:p>
        </p:txBody>
      </p:sp>
      <p:sp>
        <p:nvSpPr>
          <p:cNvPr id="7" name="shape-349"/>
          <p:cNvSpPr/>
          <p:nvPr/>
        </p:nvSpPr>
        <p:spPr>
          <a:xfrm>
            <a:off x="4402455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350"/>
          <p:cNvSpPr txBox="1"/>
          <p:nvPr/>
        </p:nvSpPr>
        <p:spPr>
          <a:xfrm>
            <a:off x="4656455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accent1"/>
                </a:solidFill>
              </a:rPr>
              <a:t>10%</a:t>
            </a:r>
            <a:endParaRPr lang="en-US" sz="6000" dirty="0"/>
          </a:p>
        </p:txBody>
      </p:sp>
      <p:sp>
        <p:nvSpPr>
          <p:cNvPr id="9" name="text-351"/>
          <p:cNvSpPr txBox="1"/>
          <p:nvPr/>
        </p:nvSpPr>
        <p:spPr>
          <a:xfrm>
            <a:off x="4656455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of sample recipients buy within 60 days</a:t>
            </a:r>
            <a:endParaRPr lang="en-US" sz="1400" dirty="0"/>
          </a:p>
        </p:txBody>
      </p:sp>
      <p:sp>
        <p:nvSpPr>
          <p:cNvPr id="10" name="shape-352"/>
          <p:cNvSpPr/>
          <p:nvPr/>
        </p:nvSpPr>
        <p:spPr>
          <a:xfrm>
            <a:off x="7992110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353"/>
          <p:cNvSpPr txBox="1"/>
          <p:nvPr/>
        </p:nvSpPr>
        <p:spPr>
          <a:xfrm>
            <a:off x="8246110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accent3"/>
                </a:solidFill>
              </a:rPr>
              <a:t>30%</a:t>
            </a:r>
            <a:endParaRPr lang="en-US" sz="6000" dirty="0"/>
          </a:p>
        </p:txBody>
      </p:sp>
      <p:sp>
        <p:nvSpPr>
          <p:cNvPr id="12" name="text-354"/>
          <p:cNvSpPr txBox="1"/>
          <p:nvPr/>
        </p:nvSpPr>
        <p:spPr>
          <a:xfrm>
            <a:off x="8246110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of buyers repeat within 90 days</a:t>
            </a:r>
            <a:endParaRPr lang="en-US" sz="1400" dirty="0"/>
          </a:p>
        </p:txBody>
      </p:sp>
      <p:sp>
        <p:nvSpPr>
          <p:cNvPr id="13" name="text-355"/>
          <p:cNvSpPr txBox="1"/>
          <p:nvPr/>
        </p:nvSpPr>
        <p:spPr>
          <a:xfrm>
            <a:off x="812800" y="37211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WE TRACK</a:t>
            </a:r>
            <a:endParaRPr lang="en-US" sz="1200" dirty="0"/>
          </a:p>
        </p:txBody>
      </p:sp>
      <p:sp>
        <p:nvSpPr>
          <p:cNvPr id="14" name="pill-356"/>
          <p:cNvSpPr/>
          <p:nvPr/>
        </p:nvSpPr>
        <p:spPr>
          <a:xfrm>
            <a:off x="812800" y="4025900"/>
            <a:ext cx="26860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Correct benefit understanding</a:t>
            </a:r>
            <a:endParaRPr lang="en-US" sz="1200" dirty="0"/>
          </a:p>
        </p:txBody>
      </p:sp>
      <p:sp>
        <p:nvSpPr>
          <p:cNvPr id="15" name="pill-357"/>
          <p:cNvSpPr/>
          <p:nvPr/>
        </p:nvSpPr>
        <p:spPr>
          <a:xfrm>
            <a:off x="3575050" y="4025900"/>
            <a:ext cx="18478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Samples distributed</a:t>
            </a:r>
            <a:endParaRPr lang="en-US" sz="1200" dirty="0"/>
          </a:p>
        </p:txBody>
      </p:sp>
      <p:sp>
        <p:nvSpPr>
          <p:cNvPr id="16" name="pill-358"/>
          <p:cNvSpPr/>
          <p:nvPr/>
        </p:nvSpPr>
        <p:spPr>
          <a:xfrm>
            <a:off x="5499100" y="4025900"/>
            <a:ext cx="26860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Sample-to-purchase conversion</a:t>
            </a:r>
            <a:endParaRPr lang="en-US" sz="1200" dirty="0"/>
          </a:p>
        </p:txBody>
      </p:sp>
      <p:sp>
        <p:nvSpPr>
          <p:cNvPr id="17" name="pill-359"/>
          <p:cNvSpPr/>
          <p:nvPr/>
        </p:nvSpPr>
        <p:spPr>
          <a:xfrm>
            <a:off x="8261350" y="4025900"/>
            <a:ext cx="14287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Cost per buyer</a:t>
            </a:r>
            <a:endParaRPr lang="en-US" sz="1200" dirty="0"/>
          </a:p>
        </p:txBody>
      </p:sp>
      <p:sp>
        <p:nvSpPr>
          <p:cNvPr id="18" name="pill-360"/>
          <p:cNvSpPr/>
          <p:nvPr/>
        </p:nvSpPr>
        <p:spPr>
          <a:xfrm>
            <a:off x="812800" y="4406900"/>
            <a:ext cx="15113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Repeat purchase</a:t>
            </a:r>
            <a:endParaRPr lang="en-US" sz="1200" dirty="0"/>
          </a:p>
        </p:txBody>
      </p:sp>
      <p:sp>
        <p:nvSpPr>
          <p:cNvPr id="19" name="pill-361"/>
          <p:cNvSpPr/>
          <p:nvPr/>
        </p:nvSpPr>
        <p:spPr>
          <a:xfrm>
            <a:off x="2400300" y="4406900"/>
            <a:ext cx="22669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Incremental retail sales</a:t>
            </a:r>
            <a:endParaRPr lang="en-US" sz="1200" dirty="0"/>
          </a:p>
        </p:txBody>
      </p:sp>
      <p:sp>
        <p:nvSpPr>
          <p:cNvPr id="20" name="pill-362"/>
          <p:cNvSpPr/>
          <p:nvPr/>
        </p:nvSpPr>
        <p:spPr>
          <a:xfrm>
            <a:off x="4743450" y="4406900"/>
            <a:ext cx="34417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New-to-Crest vs. existing Crest buyers</a:t>
            </a:r>
            <a:endParaRPr lang="en-US" sz="1200" dirty="0"/>
          </a:p>
        </p:txBody>
      </p:sp>
      <p:sp>
        <p:nvSpPr>
          <p:cNvPr id="21" name="pill-363"/>
          <p:cNvSpPr/>
          <p:nvPr/>
        </p:nvSpPr>
        <p:spPr>
          <a:xfrm>
            <a:off x="8261350" y="4406900"/>
            <a:ext cx="21844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Community participation</a:t>
            </a:r>
            <a:endParaRPr lang="en-US" sz="1200" dirty="0"/>
          </a:p>
        </p:txBody>
      </p:sp>
      <p:sp>
        <p:nvSpPr>
          <p:cNvPr id="22" name="shape-364"/>
          <p:cNvSpPr/>
          <p:nvPr/>
        </p:nvSpPr>
        <p:spPr>
          <a:xfrm>
            <a:off x="812800" y="5016500"/>
            <a:ext cx="10566400" cy="850900"/>
          </a:xfrm>
          <a:prstGeom prst="roundRect">
            <a:avLst>
              <a:gd name="adj" fmla="val 17910"/>
            </a:avLst>
          </a:prstGeom>
          <a:solidFill>
            <a:schemeClr val="accent4"/>
          </a:solidFill>
          <a:ln/>
        </p:spPr>
      </p:sp>
      <p:sp>
        <p:nvSpPr>
          <p:cNvPr id="23" name="text-365"/>
          <p:cNvSpPr txBox="1"/>
          <p:nvPr/>
        </p:nvSpPr>
        <p:spPr>
          <a:xfrm>
            <a:off x="1066800" y="5016500"/>
            <a:ext cx="1005840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Decision rule: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scale channels that meet targets at an acceptable cost per buyer; fix or stop the rest. Customers are deduplicated across dental, event, creator and paid-media channels.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Risks &amp; Mitigations</a:t>
            </a:r>
            <a:endParaRPr lang="en-US" sz="4000" dirty="0"/>
          </a:p>
        </p:txBody>
      </p:sp>
      <p:sp>
        <p:nvSpPr>
          <p:cNvPr id="3" name="shape-366"/>
          <p:cNvSpPr/>
          <p:nvPr/>
        </p:nvSpPr>
        <p:spPr>
          <a:xfrm>
            <a:off x="81280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icon-bg-367"/>
          <p:cNvSpPr/>
          <p:nvPr/>
        </p:nvSpPr>
        <p:spPr>
          <a:xfrm>
            <a:off x="104140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-36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006600"/>
            <a:ext cx="254000" cy="254000"/>
          </a:xfrm>
          <a:prstGeom prst="rect">
            <a:avLst/>
          </a:prstGeom>
        </p:spPr>
      </p:pic>
      <p:sp>
        <p:nvSpPr>
          <p:cNvPr id="6" name="text-368"/>
          <p:cNvSpPr txBox="1"/>
          <p:nvPr/>
        </p:nvSpPr>
        <p:spPr>
          <a:xfrm>
            <a:off x="104140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Benefit is misunderstood</a:t>
            </a:r>
            <a:endParaRPr lang="en-US" sz="2000" dirty="0"/>
          </a:p>
        </p:txBody>
      </p:sp>
      <p:sp>
        <p:nvSpPr>
          <p:cNvPr id="7" name="text-369"/>
          <p:cNvSpPr txBox="1"/>
          <p:nvPr/>
        </p:nvSpPr>
        <p:spPr>
          <a:xfrm>
            <a:off x="104140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8" name="text-370"/>
          <p:cNvSpPr txBox="1"/>
          <p:nvPr/>
        </p:nvSpPr>
        <p:spPr>
          <a:xfrm>
            <a:off x="104140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 language, professional explanations and a 70% understanding target before scaling.</a:t>
            </a:r>
            <a:endParaRPr lang="en-US" sz="1400" dirty="0"/>
          </a:p>
        </p:txBody>
      </p:sp>
      <p:sp>
        <p:nvSpPr>
          <p:cNvPr id="9" name="shape-371"/>
          <p:cNvSpPr/>
          <p:nvPr/>
        </p:nvSpPr>
        <p:spPr>
          <a:xfrm>
            <a:off x="349885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icon-bg-372"/>
          <p:cNvSpPr/>
          <p:nvPr/>
        </p:nvSpPr>
        <p:spPr>
          <a:xfrm>
            <a:off x="372745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con-37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050" y="2006600"/>
            <a:ext cx="254000" cy="254000"/>
          </a:xfrm>
          <a:prstGeom prst="rect">
            <a:avLst/>
          </a:prstGeom>
        </p:spPr>
      </p:pic>
      <p:sp>
        <p:nvSpPr>
          <p:cNvPr id="12" name="text-373"/>
          <p:cNvSpPr txBox="1"/>
          <p:nvPr/>
        </p:nvSpPr>
        <p:spPr>
          <a:xfrm>
            <a:off x="372745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Message turns generic</a:t>
            </a:r>
            <a:endParaRPr lang="en-US" sz="2000" dirty="0"/>
          </a:p>
        </p:txBody>
      </p:sp>
      <p:sp>
        <p:nvSpPr>
          <p:cNvPr id="13" name="text-374"/>
          <p:cNvSpPr txBox="1"/>
          <p:nvPr/>
        </p:nvSpPr>
        <p:spPr>
          <a:xfrm>
            <a:off x="372745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14" name="text-375"/>
          <p:cNvSpPr txBox="1"/>
          <p:nvPr/>
        </p:nvSpPr>
        <p:spPr>
          <a:xfrm>
            <a:off x="372745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recognizable format with Crest MicroBiome always in frame and retailer links.</a:t>
            </a:r>
            <a:endParaRPr lang="en-US" sz="1400" dirty="0"/>
          </a:p>
        </p:txBody>
      </p:sp>
      <p:sp>
        <p:nvSpPr>
          <p:cNvPr id="15" name="shape-376"/>
          <p:cNvSpPr/>
          <p:nvPr/>
        </p:nvSpPr>
        <p:spPr>
          <a:xfrm>
            <a:off x="618490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icon-bg-377"/>
          <p:cNvSpPr/>
          <p:nvPr/>
        </p:nvSpPr>
        <p:spPr>
          <a:xfrm>
            <a:off x="641350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icon-37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2006600"/>
            <a:ext cx="254000" cy="254000"/>
          </a:xfrm>
          <a:prstGeom prst="rect">
            <a:avLst/>
          </a:prstGeom>
        </p:spPr>
      </p:pic>
      <p:sp>
        <p:nvSpPr>
          <p:cNvPr id="18" name="text-378"/>
          <p:cNvSpPr txBox="1"/>
          <p:nvPr/>
        </p:nvSpPr>
        <p:spPr>
          <a:xfrm>
            <a:off x="641350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Sales shift within Crest</a:t>
            </a:r>
            <a:endParaRPr lang="en-US" sz="2000" dirty="0"/>
          </a:p>
        </p:txBody>
      </p:sp>
      <p:sp>
        <p:nvSpPr>
          <p:cNvPr id="19" name="text-379"/>
          <p:cNvSpPr txBox="1"/>
          <p:nvPr/>
        </p:nvSpPr>
        <p:spPr>
          <a:xfrm>
            <a:off x="641350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20" name="text-380"/>
          <p:cNvSpPr txBox="1"/>
          <p:nvPr/>
        </p:nvSpPr>
        <p:spPr>
          <a:xfrm>
            <a:off x="641350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Position as an additional Crest choice; track new-to-Crest versus existing Crest buyers.</a:t>
            </a:r>
            <a:endParaRPr lang="en-US" sz="1400" dirty="0"/>
          </a:p>
        </p:txBody>
      </p:sp>
      <p:sp>
        <p:nvSpPr>
          <p:cNvPr id="21" name="shape-381"/>
          <p:cNvSpPr/>
          <p:nvPr/>
        </p:nvSpPr>
        <p:spPr>
          <a:xfrm>
            <a:off x="887095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icon-bg-382"/>
          <p:cNvSpPr/>
          <p:nvPr/>
        </p:nvSpPr>
        <p:spPr>
          <a:xfrm>
            <a:off x="909955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icon-38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150" y="2006600"/>
            <a:ext cx="254000" cy="254000"/>
          </a:xfrm>
          <a:prstGeom prst="rect">
            <a:avLst/>
          </a:prstGeom>
        </p:spPr>
      </p:pic>
      <p:sp>
        <p:nvSpPr>
          <p:cNvPr id="24" name="text-383"/>
          <p:cNvSpPr txBox="1"/>
          <p:nvPr/>
        </p:nvSpPr>
        <p:spPr>
          <a:xfrm>
            <a:off x="909955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Costs outrun results</a:t>
            </a:r>
            <a:endParaRPr lang="en-US" sz="2000" dirty="0"/>
          </a:p>
        </p:txBody>
      </p:sp>
      <p:sp>
        <p:nvSpPr>
          <p:cNvPr id="25" name="text-384"/>
          <p:cNvSpPr txBox="1"/>
          <p:nvPr/>
        </p:nvSpPr>
        <p:spPr>
          <a:xfrm>
            <a:off x="909955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26" name="text-385"/>
          <p:cNvSpPr txBox="1"/>
          <p:nvPr/>
        </p:nvSpPr>
        <p:spPr>
          <a:xfrm>
            <a:off x="909955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Release $25K first, restock by actual distribution and compare channel cost per buyer.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86"/>
          <p:cNvSpPr txBox="1"/>
          <p:nvPr/>
        </p:nvSpPr>
        <p:spPr>
          <a:xfrm>
            <a:off x="812800" y="7112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800" spc="4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FIRST TWO MINUTES ARE YOURS</a:t>
            </a:r>
            <a:endParaRPr lang="en-US" sz="2800" dirty="0"/>
          </a:p>
        </p:txBody>
      </p:sp>
      <p:pic>
        <p:nvPicPr>
          <p:cNvPr id="3" name="image-387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21922" y="1397000"/>
            <a:ext cx="4948157" cy="3892550"/>
          </a:xfrm>
          <a:prstGeom prst="rect">
            <a:avLst/>
          </a:prstGeom>
        </p:spPr>
      </p:pic>
      <p:sp>
        <p:nvSpPr>
          <p:cNvPr id="4" name="text-388"/>
          <p:cNvSpPr txBox="1"/>
          <p:nvPr/>
        </p:nvSpPr>
        <p:spPr>
          <a:xfrm>
            <a:off x="812800" y="54356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Crest MicroBiome · Make brushing your first act of self-care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89"/>
          <p:cNvSpPr txBox="1"/>
          <p:nvPr/>
        </p:nvSpPr>
        <p:spPr>
          <a:xfrm>
            <a:off x="812800" y="2095500"/>
            <a:ext cx="482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800" spc="8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EXHIBITS</a:t>
            </a:r>
            <a:endParaRPr lang="en-US" sz="4800" dirty="0"/>
          </a:p>
        </p:txBody>
      </p:sp>
      <p:sp>
        <p:nvSpPr>
          <p:cNvPr id="3" name="text-390"/>
          <p:cNvSpPr txBox="1"/>
          <p:nvPr/>
        </p:nvSpPr>
        <p:spPr>
          <a:xfrm>
            <a:off x="812800" y="2921000"/>
            <a:ext cx="482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3DF"/>
                </a:solidFill>
              </a:rPr>
              <a:t>Detail for judge questions</a:t>
            </a:r>
            <a:endParaRPr lang="en-US" sz="1400" dirty="0"/>
          </a:p>
        </p:txBody>
      </p:sp>
      <p:sp>
        <p:nvSpPr>
          <p:cNvPr id="4" name="text-391"/>
          <p:cNvSpPr txBox="1"/>
          <p:nvPr/>
        </p:nvSpPr>
        <p:spPr>
          <a:xfrm>
            <a:off x="6553200" y="12700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A1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Claims guardrails</a:t>
            </a:r>
            <a:endParaRPr lang="en-US" sz="1500" dirty="0"/>
          </a:p>
        </p:txBody>
      </p:sp>
      <p:sp>
        <p:nvSpPr>
          <p:cNvPr id="5" name="rule-0"/>
          <p:cNvSpPr/>
          <p:nvPr/>
        </p:nvSpPr>
        <p:spPr>
          <a:xfrm>
            <a:off x="6553200" y="18034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6" name="text-392"/>
          <p:cNvSpPr txBox="1"/>
          <p:nvPr/>
        </p:nvSpPr>
        <p:spPr>
          <a:xfrm>
            <a:off x="6553200" y="18034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A2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Dental scenario math</a:t>
            </a:r>
            <a:endParaRPr lang="en-US" sz="1500" dirty="0"/>
          </a:p>
        </p:txBody>
      </p:sp>
      <p:sp>
        <p:nvSpPr>
          <p:cNvPr id="7" name="rule-1"/>
          <p:cNvSpPr/>
          <p:nvPr/>
        </p:nvSpPr>
        <p:spPr>
          <a:xfrm>
            <a:off x="6553200" y="23368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8" name="text-393"/>
          <p:cNvSpPr txBox="1"/>
          <p:nvPr/>
        </p:nvSpPr>
        <p:spPr>
          <a:xfrm>
            <a:off x="6553200" y="23368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A3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Sampling research</a:t>
            </a:r>
            <a:endParaRPr lang="en-US" sz="1500" dirty="0"/>
          </a:p>
        </p:txBody>
      </p:sp>
      <p:sp>
        <p:nvSpPr>
          <p:cNvPr id="9" name="rule-2"/>
          <p:cNvSpPr/>
          <p:nvPr/>
        </p:nvSpPr>
        <p:spPr>
          <a:xfrm>
            <a:off x="6553200" y="28702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10" name="text-394"/>
          <p:cNvSpPr txBox="1"/>
          <p:nvPr/>
        </p:nvSpPr>
        <p:spPr>
          <a:xfrm>
            <a:off x="6553200" y="28702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A4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Measurement plan</a:t>
            </a:r>
            <a:endParaRPr lang="en-US" sz="1500" dirty="0"/>
          </a:p>
        </p:txBody>
      </p:sp>
      <p:sp>
        <p:nvSpPr>
          <p:cNvPr id="11" name="rule-3"/>
          <p:cNvSpPr/>
          <p:nvPr/>
        </p:nvSpPr>
        <p:spPr>
          <a:xfrm>
            <a:off x="6553200" y="34036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12" name="text-395"/>
          <p:cNvSpPr txBox="1"/>
          <p:nvPr/>
        </p:nvSpPr>
        <p:spPr>
          <a:xfrm>
            <a:off x="6553200" y="34036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A5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Budget and event notes</a:t>
            </a:r>
            <a:endParaRPr lang="en-US" sz="1500" dirty="0"/>
          </a:p>
        </p:txBody>
      </p:sp>
      <p:sp>
        <p:nvSpPr>
          <p:cNvPr id="13" name="text-396"/>
          <p:cNvSpPr txBox="1"/>
          <p:nvPr/>
        </p:nvSpPr>
        <p:spPr>
          <a:xfrm>
            <a:off x="812800" y="51181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HOW WE LABEL INFORMATION</a:t>
            </a:r>
            <a:endParaRPr lang="en-US" sz="1200" dirty="0"/>
          </a:p>
        </p:txBody>
      </p:sp>
      <p:sp>
        <p:nvSpPr>
          <p:cNvPr id="14" name="pill-397"/>
          <p:cNvSpPr/>
          <p:nvPr/>
        </p:nvSpPr>
        <p:spPr>
          <a:xfrm>
            <a:off x="812800" y="543560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5" name="pill-398"/>
          <p:cNvSpPr/>
          <p:nvPr/>
        </p:nvSpPr>
        <p:spPr>
          <a:xfrm>
            <a:off x="2279650" y="5435600"/>
            <a:ext cx="2305050" cy="292100"/>
          </a:xfrm>
          <a:prstGeom prst="roundRect">
            <a:avLst>
              <a:gd name="adj" fmla="val 50000"/>
            </a:avLst>
          </a:prstGeom>
          <a:solidFill>
            <a:srgbClr val="DDF3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EXTERNAL RESEARCH</a:t>
            </a:r>
            <a:endParaRPr lang="en-US" sz="1200" dirty="0"/>
          </a:p>
        </p:txBody>
      </p:sp>
      <p:sp>
        <p:nvSpPr>
          <p:cNvPr id="16" name="pill-399"/>
          <p:cNvSpPr/>
          <p:nvPr/>
        </p:nvSpPr>
        <p:spPr>
          <a:xfrm>
            <a:off x="4686300" y="54356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17" name="pill-400"/>
          <p:cNvSpPr/>
          <p:nvPr/>
        </p:nvSpPr>
        <p:spPr>
          <a:xfrm>
            <a:off x="6858000" y="543560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bg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FINANCIAL ASSUMPTION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A1 · Claims Guardrails</a:t>
            </a:r>
            <a:endParaRPr lang="en-US" sz="4000" dirty="0"/>
          </a:p>
        </p:txBody>
      </p:sp>
      <p:sp>
        <p:nvSpPr>
          <p:cNvPr id="3" name="pill-401"/>
          <p:cNvSpPr/>
          <p:nvPr/>
        </p:nvSpPr>
        <p:spPr>
          <a:xfrm>
            <a:off x="10013950" y="9715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graphicFrame>
        <p:nvGraphicFramePr>
          <p:cNvPr id="29" name="table-4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10566400" cy="914400"/>
        </p:xfrm>
        <a:graphic>
          <a:graphicData uri="http://schemas.openxmlformats.org/drawingml/2006/table">
            <a:tbl>
              <a:tblPr/>
              <a:tblGrid>
                <a:gridCol w="5283200"/>
                <a:gridCol w="5283200"/>
              </a:tblGrid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we say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we avoid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Supports the helpful bacteria already in your mouth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Adds live probiotics or creates new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Cavity protection, plus care for helpful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Ordinary toothpaste kills all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An additional Crest choice for wellness-minded shoppers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Other toothpastes lack protection or innovation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“Thrive” means a routine and a community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Superior clinical outcomes vs. ordinary toothpaste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Make the morning brush yours; brush twice a day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Athletic performance, immunity or systemic benefits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Dentists and hygienists explain it in plain language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Paying professionals per recommendation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-403"/>
          <p:cNvSpPr txBox="1"/>
          <p:nvPr/>
        </p:nvSpPr>
        <p:spPr>
          <a:xfrm>
            <a:off x="812800" y="45720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Professionals receive supporting evidence and accurate materials, and decide whether the product is appropriate to recommend. New health claims go through review before use.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A2 · Dental Scenario Math</a:t>
            </a:r>
            <a:endParaRPr lang="en-US" sz="4000" dirty="0"/>
          </a:p>
        </p:txBody>
      </p:sp>
      <p:sp>
        <p:nvSpPr>
          <p:cNvPr id="3" name="pill-404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FINANCIAL ASSUMPTION</a:t>
            </a:r>
            <a:endParaRPr lang="en-US" sz="1200" dirty="0"/>
          </a:p>
        </p:txBody>
      </p:sp>
      <p:graphicFrame>
        <p:nvGraphicFramePr>
          <p:cNvPr id="30" name="table-4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4826000" cy="914400"/>
        </p:xfrm>
        <a:graphic>
          <a:graphicData uri="http://schemas.openxmlformats.org/drawingml/2006/table">
            <a:tbl>
              <a:tblPr/>
              <a:tblGrid>
                <a:gridCol w="2702560"/>
                <a:gridCol w="1061720"/>
                <a:gridCol w="1061720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Value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Type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Sample production budget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Production cost per sample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Samples produced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50,000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Derived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Reach distinct recipients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80%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Recipients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40,000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Derived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Purchase window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60 days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Retail price per tube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$8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Full dental program cost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-406"/>
          <p:cNvSpPr txBox="1"/>
          <p:nvPr/>
        </p:nvSpPr>
        <p:spPr>
          <a:xfrm>
            <a:off x="5943600" y="1676400"/>
            <a:ext cx="543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FORMULAS</a:t>
            </a:r>
            <a:endParaRPr lang="en-US" sz="1200" dirty="0"/>
          </a:p>
        </p:txBody>
      </p:sp>
      <p:sp>
        <p:nvSpPr>
          <p:cNvPr id="6" name="text-407"/>
          <p:cNvSpPr txBox="1"/>
          <p:nvPr/>
        </p:nvSpPr>
        <p:spPr>
          <a:xfrm>
            <a:off x="5943600" y="1981200"/>
            <a:ext cx="5435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Buyers = 40,000 × conversion rate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Cost per buyer = $100,000 ÷ buyers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Initial sales = buyers × $8 (one tube)</a:t>
            </a:r>
            <a:endParaRPr lang="en-US" sz="1400" dirty="0"/>
          </a:p>
        </p:txBody>
      </p:sp>
      <p:graphicFrame>
        <p:nvGraphicFramePr>
          <p:cNvPr id="59" name="table-4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3111500"/>
          <a:ext cx="5435600" cy="914400"/>
        </p:xfrm>
        <a:graphic>
          <a:graphicData uri="http://schemas.openxmlformats.org/drawingml/2006/table">
            <a:tbl>
              <a:tblPr/>
              <a:tblGrid>
                <a:gridCol w="1304544"/>
                <a:gridCol w="760984"/>
                <a:gridCol w="978408"/>
                <a:gridCol w="1195832"/>
                <a:gridCol w="1195832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Rate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Buyers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Cost / buyer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Retail sales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Conservative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2,000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$50.00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$16,000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$25.00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$32,000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Strong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6,000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≈ $16.67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$48,000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text-409"/>
          <p:cNvSpPr txBox="1"/>
          <p:nvPr/>
        </p:nvSpPr>
        <p:spPr>
          <a:xfrm>
            <a:off x="812800" y="52705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Repeat purchases are excluded. Retail sales are not Crest net revenue or profit. Not every buyer is new to Crest; some purchases may switch from other Crest products.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A3 · Sampling Research</a:t>
            </a:r>
            <a:endParaRPr lang="en-US" sz="4000" dirty="0"/>
          </a:p>
        </p:txBody>
      </p:sp>
      <p:sp>
        <p:nvSpPr>
          <p:cNvPr id="3" name="pill-410"/>
          <p:cNvSpPr/>
          <p:nvPr/>
        </p:nvSpPr>
        <p:spPr>
          <a:xfrm>
            <a:off x="9074150" y="971550"/>
            <a:ext cx="2305050" cy="292100"/>
          </a:xfrm>
          <a:prstGeom prst="roundRect">
            <a:avLst>
              <a:gd name="adj" fmla="val 50000"/>
            </a:avLst>
          </a:prstGeom>
          <a:solidFill>
            <a:srgbClr val="DDF3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EXTERNAL RESEARCH</a:t>
            </a:r>
            <a:endParaRPr lang="en-US" sz="1200" dirty="0"/>
          </a:p>
        </p:txBody>
      </p:sp>
      <p:sp>
        <p:nvSpPr>
          <p:cNvPr id="4" name="shape-411"/>
          <p:cNvSpPr/>
          <p:nvPr/>
        </p:nvSpPr>
        <p:spPr>
          <a:xfrm>
            <a:off x="812800" y="1676400"/>
            <a:ext cx="5181600" cy="30480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412"/>
          <p:cNvSpPr txBox="1"/>
          <p:nvPr/>
        </p:nvSpPr>
        <p:spPr>
          <a:xfrm>
            <a:off x="1066800" y="1930400"/>
            <a:ext cx="467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SAMPL · COLGATE, ITALY AND SPAIN</a:t>
            </a:r>
            <a:endParaRPr lang="en-US" sz="1200" dirty="0"/>
          </a:p>
        </p:txBody>
      </p:sp>
      <p:sp>
        <p:nvSpPr>
          <p:cNvPr id="6" name="text-413"/>
          <p:cNvSpPr txBox="1"/>
          <p:nvPr/>
        </p:nvSpPr>
        <p:spPr>
          <a:xfrm>
            <a:off x="1066800" y="2222500"/>
            <a:ext cx="46736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26%</a:t>
            </a:r>
            <a:endParaRPr lang="en-US" sz="6000" dirty="0"/>
          </a:p>
        </p:txBody>
      </p:sp>
      <p:sp>
        <p:nvSpPr>
          <p:cNvPr id="7" name="text-414"/>
          <p:cNvSpPr txBox="1"/>
          <p:nvPr/>
        </p:nvSpPr>
        <p:spPr>
          <a:xfrm>
            <a:off x="1066800" y="3175000"/>
            <a:ext cx="46736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self-reported purchase rate within two weeks, for a targeted toothpaste campaign that included media, audience profiling and follow-up.</a:t>
            </a:r>
            <a:endParaRPr lang="en-US" sz="1400" dirty="0"/>
          </a:p>
        </p:txBody>
      </p:sp>
      <p:sp>
        <p:nvSpPr>
          <p:cNvPr id="8" name="text-415"/>
          <p:cNvSpPr txBox="1"/>
          <p:nvPr/>
        </p:nvSpPr>
        <p:spPr>
          <a:xfrm>
            <a:off x="1066800" y="4127500"/>
            <a:ext cx="4673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sampltech.com/case-studies/40000-marketing-optins-colgate</a:t>
            </a:r>
            <a:endParaRPr lang="en-US" sz="1200" dirty="0"/>
          </a:p>
        </p:txBody>
      </p:sp>
      <p:sp>
        <p:nvSpPr>
          <p:cNvPr id="9" name="shape-416"/>
          <p:cNvSpPr/>
          <p:nvPr/>
        </p:nvSpPr>
        <p:spPr>
          <a:xfrm>
            <a:off x="6197600" y="1676400"/>
            <a:ext cx="5181600" cy="30480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-417"/>
          <p:cNvSpPr txBox="1"/>
          <p:nvPr/>
        </p:nvSpPr>
        <p:spPr>
          <a:xfrm>
            <a:off x="6451600" y="1930400"/>
            <a:ext cx="467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SOPOST · ACROSS ITS CAMPAIGNS</a:t>
            </a:r>
            <a:endParaRPr lang="en-US" sz="1200" dirty="0"/>
          </a:p>
        </p:txBody>
      </p:sp>
      <p:sp>
        <p:nvSpPr>
          <p:cNvPr id="11" name="text-418"/>
          <p:cNvSpPr txBox="1"/>
          <p:nvPr/>
        </p:nvSpPr>
        <p:spPr>
          <a:xfrm>
            <a:off x="6451600" y="2222500"/>
            <a:ext cx="46736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≈ 1 in 6</a:t>
            </a:r>
            <a:endParaRPr lang="en-US" sz="6000" dirty="0"/>
          </a:p>
        </p:txBody>
      </p:sp>
      <p:sp>
        <p:nvSpPr>
          <p:cNvPr id="12" name="text-419"/>
          <p:cNvSpPr txBox="1"/>
          <p:nvPr/>
        </p:nvSpPr>
        <p:spPr>
          <a:xfrm>
            <a:off x="6451600" y="3175000"/>
            <a:ext cx="46736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consumers purchase after sampling, as reported by the provider.</a:t>
            </a:r>
            <a:endParaRPr lang="en-US" sz="1400" dirty="0"/>
          </a:p>
        </p:txBody>
      </p:sp>
      <p:sp>
        <p:nvSpPr>
          <p:cNvPr id="13" name="text-420"/>
          <p:cNvSpPr txBox="1"/>
          <p:nvPr/>
        </p:nvSpPr>
        <p:spPr>
          <a:xfrm>
            <a:off x="6451600" y="4127500"/>
            <a:ext cx="4673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sopost.com/blog/your-sampling-campaign-is-flying-is-it-working</a:t>
            </a:r>
            <a:endParaRPr lang="en-US" sz="1200" dirty="0"/>
          </a:p>
        </p:txBody>
      </p:sp>
      <p:sp>
        <p:nvSpPr>
          <p:cNvPr id="14" name="shape-421"/>
          <p:cNvSpPr/>
          <p:nvPr/>
        </p:nvSpPr>
        <p:spPr>
          <a:xfrm>
            <a:off x="812800" y="4927600"/>
            <a:ext cx="10566400" cy="889000"/>
          </a:xfrm>
          <a:prstGeom prst="roundRect">
            <a:avLst>
              <a:gd name="adj" fmla="val 17143"/>
            </a:avLst>
          </a:prstGeom>
          <a:solidFill>
            <a:schemeClr val="accent4"/>
          </a:solidFill>
          <a:ln/>
        </p:spPr>
      </p:sp>
      <p:sp>
        <p:nvSpPr>
          <p:cNvPr id="15" name="text-422"/>
          <p:cNvSpPr txBox="1"/>
          <p:nvPr/>
        </p:nvSpPr>
        <p:spPr>
          <a:xfrm>
            <a:off x="1066800" y="4927600"/>
            <a:ext cx="1005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Provider-reported results from different programs, not verified Canadian dental-clinic benchmarks. Our 5%, 10% and 15% scenarios are planning assumptions informed by this adjacent evidence.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A4 · Measurement Plan</a:t>
            </a:r>
            <a:endParaRPr lang="en-US" sz="4000" dirty="0"/>
          </a:p>
        </p:txBody>
      </p:sp>
      <p:sp>
        <p:nvSpPr>
          <p:cNvPr id="3" name="pill-423"/>
          <p:cNvSpPr/>
          <p:nvPr/>
        </p:nvSpPr>
        <p:spPr>
          <a:xfrm>
            <a:off x="9309100" y="97155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graphicFrame>
        <p:nvGraphicFramePr>
          <p:cNvPr id="32" name="table-4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6"/>
                <a:gridCol w="4015232"/>
                <a:gridCol w="4015232"/>
              </a:tblGrid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Measure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Source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Watch-out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Samples delivered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Shipments to clinics and events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Not the same as samples handed 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Samples handed 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Estimated from clinic stock reporting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 handed-out sample may go unused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QR visits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Clinic-specific QR codes and landing pages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 scan is not a purchase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Coupon purchases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Trackable retailer coupons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Misses purchases made without the offer; not all incremental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Benefit understanding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Optional follow-up research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Target: 70% correct understanding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Repeat purchase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Retailer data where available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Target: 30% of buyers within 90 days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Incremental sales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Matched retail comparisons where feasible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Split new-to-Crest vs. existing Crest buyers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Community participation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Customer stories shared and featured with permission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Deduplicate customers across all channels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A5 · Budget &amp; Event Notes</a:t>
            </a:r>
            <a:endParaRPr lang="en-US" sz="4000" dirty="0"/>
          </a:p>
        </p:txBody>
      </p:sp>
      <p:sp>
        <p:nvSpPr>
          <p:cNvPr id="3" name="pill-425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sp>
        <p:nvSpPr>
          <p:cNvPr id="4" name="shape-426"/>
          <p:cNvSpPr/>
          <p:nvPr/>
        </p:nvSpPr>
        <p:spPr>
          <a:xfrm>
            <a:off x="812800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427"/>
          <p:cNvSpPr txBox="1"/>
          <p:nvPr/>
        </p:nvSpPr>
        <p:spPr>
          <a:xfrm>
            <a:off x="1041400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No double-counting</a:t>
            </a:r>
            <a:endParaRPr lang="en-US" sz="2000" dirty="0"/>
          </a:p>
        </p:txBody>
      </p:sp>
      <p:sp>
        <p:nvSpPr>
          <p:cNvPr id="6" name="text-428"/>
          <p:cNvSpPr txBox="1"/>
          <p:nvPr/>
        </p:nvSpPr>
        <p:spPr>
          <a:xfrm>
            <a:off x="1041400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Dental samples sit only in the $100K dental program, not the $150K non-dental sampling line.</a:t>
            </a:r>
            <a:endParaRPr lang="en-US" sz="1400" dirty="0"/>
          </a:p>
        </p:txBody>
      </p:sp>
      <p:sp>
        <p:nvSpPr>
          <p:cNvPr id="7" name="shape-429"/>
          <p:cNvSpPr/>
          <p:nvPr/>
        </p:nvSpPr>
        <p:spPr>
          <a:xfrm>
            <a:off x="4402455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430"/>
          <p:cNvSpPr txBox="1"/>
          <p:nvPr/>
        </p:nvSpPr>
        <p:spPr>
          <a:xfrm>
            <a:off x="4631055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Event costs split</a:t>
            </a:r>
            <a:endParaRPr lang="en-US" sz="2000" dirty="0"/>
          </a:p>
        </p:txBody>
      </p:sp>
      <p:sp>
        <p:nvSpPr>
          <p:cNvPr id="9" name="text-431"/>
          <p:cNvSpPr txBox="1"/>
          <p:nvPr/>
        </p:nvSpPr>
        <p:spPr>
          <a:xfrm>
            <a:off x="4631055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Event samples come from non-dental sampling; staffing and logistics from event activation.</a:t>
            </a:r>
            <a:endParaRPr lang="en-US" sz="1400" dirty="0"/>
          </a:p>
        </p:txBody>
      </p:sp>
      <p:sp>
        <p:nvSpPr>
          <p:cNvPr id="10" name="shape-432"/>
          <p:cNvSpPr/>
          <p:nvPr/>
        </p:nvSpPr>
        <p:spPr>
          <a:xfrm>
            <a:off x="7992110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433"/>
          <p:cNvSpPr txBox="1"/>
          <p:nvPr/>
        </p:nvSpPr>
        <p:spPr>
          <a:xfrm>
            <a:off x="8220710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Coupons</a:t>
            </a:r>
            <a:endParaRPr lang="en-US" sz="2000" dirty="0"/>
          </a:p>
        </p:txBody>
      </p:sp>
      <p:sp>
        <p:nvSpPr>
          <p:cNvPr id="12" name="text-434"/>
          <p:cNvSpPr txBox="1"/>
          <p:nvPr/>
        </p:nvSpPr>
        <p:spPr>
          <a:xfrm>
            <a:off x="8220710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Coupon discounts are funded from the $100K retail offers and merchandising line.</a:t>
            </a:r>
            <a:endParaRPr lang="en-US" sz="1400" dirty="0"/>
          </a:p>
        </p:txBody>
      </p:sp>
      <p:sp>
        <p:nvSpPr>
          <p:cNvPr id="13" name="shape-435"/>
          <p:cNvSpPr/>
          <p:nvPr/>
        </p:nvSpPr>
        <p:spPr>
          <a:xfrm>
            <a:off x="812800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436"/>
          <p:cNvSpPr txBox="1"/>
          <p:nvPr/>
        </p:nvSpPr>
        <p:spPr>
          <a:xfrm>
            <a:off x="1041400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Quotes needed</a:t>
            </a:r>
            <a:endParaRPr lang="en-US" sz="2000" dirty="0"/>
          </a:p>
        </p:txBody>
      </p:sp>
      <p:sp>
        <p:nvSpPr>
          <p:cNvPr id="15" name="text-437"/>
          <p:cNvSpPr txBox="1"/>
          <p:nvPr/>
        </p:nvSpPr>
        <p:spPr>
          <a:xfrm>
            <a:off x="1041400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All figures are proposed allocations that require supplier quotes.</a:t>
            </a:r>
            <a:endParaRPr lang="en-US" sz="1400" dirty="0"/>
          </a:p>
        </p:txBody>
      </p:sp>
      <p:sp>
        <p:nvSpPr>
          <p:cNvPr id="16" name="shape-438"/>
          <p:cNvSpPr/>
          <p:nvPr/>
        </p:nvSpPr>
        <p:spPr>
          <a:xfrm>
            <a:off x="4402455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439"/>
          <p:cNvSpPr txBox="1"/>
          <p:nvPr/>
        </p:nvSpPr>
        <p:spPr>
          <a:xfrm>
            <a:off x="4631055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Expo audience</a:t>
            </a:r>
            <a:endParaRPr lang="en-US" sz="2000" dirty="0"/>
          </a:p>
        </p:txBody>
      </p:sp>
      <p:sp>
        <p:nvSpPr>
          <p:cNvPr id="18" name="text-440"/>
          <p:cNvSpPr txBox="1"/>
          <p:nvPr/>
        </p:nvSpPr>
        <p:spPr>
          <a:xfrm>
            <a:off x="4631055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Pre-race expos at bib pickup, when attendees can browse, not exhausted finishers.</a:t>
            </a:r>
            <a:endParaRPr lang="en-US" sz="1400" dirty="0"/>
          </a:p>
        </p:txBody>
      </p:sp>
      <p:sp>
        <p:nvSpPr>
          <p:cNvPr id="19" name="shape-441"/>
          <p:cNvSpPr/>
          <p:nvPr/>
        </p:nvSpPr>
        <p:spPr>
          <a:xfrm>
            <a:off x="7992110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442"/>
          <p:cNvSpPr txBox="1"/>
          <p:nvPr/>
        </p:nvSpPr>
        <p:spPr>
          <a:xfrm>
            <a:off x="8220710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MicroBiome suit</a:t>
            </a:r>
            <a:endParaRPr lang="en-US" sz="2000" dirty="0"/>
          </a:p>
        </p:txBody>
      </p:sp>
      <p:sp>
        <p:nvSpPr>
          <p:cNvPr id="21" name="text-443"/>
          <p:cNvSpPr txBox="1"/>
          <p:nvPr/>
        </p:nvSpPr>
        <p:spPr>
          <a:xfrm>
            <a:off x="8220710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booth or photo element. Running a race in suits is optional and must justify its cost.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st MicroBiome">
  <a:themeElements>
    <a:clrScheme name="Crest MicroBiome">
      <a:dk1>
        <a:srgbClr val="0A2463"/>
      </a:dk1>
      <a:lt1>
        <a:srgbClr val="F7F3EA"/>
      </a:lt1>
      <a:dk2>
        <a:srgbClr val="3E4C63"/>
      </a:dk2>
      <a:lt2>
        <a:srgbClr val="FCFAF4"/>
      </a:lt2>
      <a:accent1>
        <a:srgbClr val="007A75"/>
      </a:accent1>
      <a:accent2>
        <a:srgbClr val="7BC67E"/>
      </a:accent2>
      <a:accent3>
        <a:srgbClr val="2E7D32"/>
      </a:accent3>
      <a:accent4>
        <a:srgbClr val="BDEFE7"/>
      </a:accent4>
      <a:accent5>
        <a:srgbClr val="E3DDD0"/>
      </a:accent5>
      <a:accent6>
        <a:srgbClr val="5EEAD4"/>
      </a:accent6>
      <a:hlink>
        <a:srgbClr val="007A75"/>
      </a:hlink>
      <a:folHlink>
        <a:srgbClr val="2E7D32"/>
      </a:folHlink>
    </a:clrScheme>
    <a:fontScheme name="Crest MicroBiom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Crest MicroBiome Pitch</dc:title>
  <dc:subject>PptxGenJS Presentation</dc:subject>
  <dc:creator>PptxGenJS</dc:creator>
  <cp:lastModifiedBy>PptxGenJS</cp:lastModifiedBy>
  <cp:revision>1</cp:revision>
  <dcterms:created xsi:type="dcterms:W3CDTF">2026-10-03T01:18:45Z</dcterms:created>
  <dcterms:modified xsi:type="dcterms:W3CDTF">2026-10-03T01:18:45Z</dcterms:modified>
</cp:coreProperties>
</file>